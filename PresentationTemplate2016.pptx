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 id="2147483720" r:id="rId2"/>
  </p:sldMasterIdLst>
  <p:notesMasterIdLst>
    <p:notesMasterId r:id="rId35"/>
  </p:notesMasterIdLst>
  <p:handoutMasterIdLst>
    <p:handoutMasterId r:id="rId36"/>
  </p:handoutMasterIdLst>
  <p:sldIdLst>
    <p:sldId id="323" r:id="rId3"/>
    <p:sldId id="290" r:id="rId4"/>
    <p:sldId id="289" r:id="rId5"/>
    <p:sldId id="292" r:id="rId6"/>
    <p:sldId id="300" r:id="rId7"/>
    <p:sldId id="301" r:id="rId8"/>
    <p:sldId id="294" r:id="rId9"/>
    <p:sldId id="302" r:id="rId10"/>
    <p:sldId id="303" r:id="rId11"/>
    <p:sldId id="304" r:id="rId12"/>
    <p:sldId id="305" r:id="rId13"/>
    <p:sldId id="306" r:id="rId14"/>
    <p:sldId id="307" r:id="rId15"/>
    <p:sldId id="308" r:id="rId16"/>
    <p:sldId id="310" r:id="rId17"/>
    <p:sldId id="311" r:id="rId18"/>
    <p:sldId id="313" r:id="rId19"/>
    <p:sldId id="312" r:id="rId20"/>
    <p:sldId id="314" r:id="rId21"/>
    <p:sldId id="315" r:id="rId22"/>
    <p:sldId id="317" r:id="rId23"/>
    <p:sldId id="318" r:id="rId24"/>
    <p:sldId id="319" r:id="rId25"/>
    <p:sldId id="320" r:id="rId26"/>
    <p:sldId id="324" r:id="rId27"/>
    <p:sldId id="295" r:id="rId28"/>
    <p:sldId id="321" r:id="rId29"/>
    <p:sldId id="322" r:id="rId30"/>
    <p:sldId id="296" r:id="rId31"/>
    <p:sldId id="297" r:id="rId32"/>
    <p:sldId id="299" r:id="rId33"/>
    <p:sldId id="325" r:id="rId3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m Norman" initials="TN" lastIdx="1" clrIdx="0">
    <p:extLst>
      <p:ext uri="{19B8F6BF-5375-455C-9EA6-DF929625EA0E}">
        <p15:presenceInfo xmlns:p15="http://schemas.microsoft.com/office/powerpoint/2012/main" userId="Tom Norm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4496"/>
    <a:srgbClr val="9E5E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37" autoAdjust="0"/>
    <p:restoredTop sz="77240" autoAdjust="0"/>
  </p:normalViewPr>
  <p:slideViewPr>
    <p:cSldViewPr>
      <p:cViewPr varScale="1">
        <p:scale>
          <a:sx n="70" d="100"/>
          <a:sy n="70" d="100"/>
        </p:scale>
        <p:origin x="1210" y="58"/>
      </p:cViewPr>
      <p:guideLst>
        <p:guide orient="horz" pos="2160"/>
        <p:guide pos="3840"/>
      </p:guideLst>
    </p:cSldViewPr>
  </p:slideViewPr>
  <p:outlineViewPr>
    <p:cViewPr>
      <p:scale>
        <a:sx n="33" d="100"/>
        <a:sy n="33" d="100"/>
      </p:scale>
      <p:origin x="0" y="349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74" d="100"/>
          <a:sy n="74" d="100"/>
        </p:scale>
        <p:origin x="672" y="5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972561" y="0"/>
            <a:ext cx="3037840" cy="464820"/>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623" y="0"/>
            <a:ext cx="3037840" cy="464820"/>
          </a:xfrm>
          <a:prstGeom prst="rect">
            <a:avLst/>
          </a:prstGeom>
        </p:spPr>
        <p:txBody>
          <a:bodyPr vert="horz" lIns="91440" tIns="45720" rIns="91440" bIns="45720" rtlCol="1"/>
          <a:lstStyle>
            <a:lvl1pPr algn="l">
              <a:defRPr sz="1200"/>
            </a:lvl1pPr>
          </a:lstStyle>
          <a:p>
            <a:fld id="{C9B6F397-9295-4C9F-B4B0-31BF9D08FE68}" type="datetimeFigureOut">
              <a:rPr lang="he-IL" smtClean="0"/>
              <a:pPr/>
              <a:t>י"א/אב/תשע"ט</a:t>
            </a:fld>
            <a:endParaRPr lang="he-IL"/>
          </a:p>
        </p:txBody>
      </p:sp>
      <p:sp>
        <p:nvSpPr>
          <p:cNvPr id="4" name="מציין מיקום של כותרת תחתונה 3"/>
          <p:cNvSpPr>
            <a:spLocks noGrp="1"/>
          </p:cNvSpPr>
          <p:nvPr>
            <p:ph type="ftr" sz="quarter" idx="2"/>
          </p:nvPr>
        </p:nvSpPr>
        <p:spPr>
          <a:xfrm>
            <a:off x="3972561" y="8829966"/>
            <a:ext cx="3037840" cy="464820"/>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623" y="8829966"/>
            <a:ext cx="3037840" cy="464820"/>
          </a:xfrm>
          <a:prstGeom prst="rect">
            <a:avLst/>
          </a:prstGeom>
        </p:spPr>
        <p:txBody>
          <a:bodyPr vert="horz" lIns="91440" tIns="45720" rIns="91440" bIns="45720" rtlCol="1" anchor="b"/>
          <a:lstStyle>
            <a:lvl1pPr algn="l">
              <a:defRPr sz="1200"/>
            </a:lvl1pPr>
          </a:lstStyle>
          <a:p>
            <a:fld id="{BBE2A6A1-1652-41B2-B665-7F46B35F79A1}" type="slidenum">
              <a:rPr lang="he-IL" smtClean="0"/>
              <a:pPr/>
              <a:t>‹#›</a:t>
            </a:fld>
            <a:endParaRPr lang="he-IL"/>
          </a:p>
        </p:txBody>
      </p:sp>
    </p:spTree>
    <p:extLst>
      <p:ext uri="{BB962C8B-B14F-4D97-AF65-F5344CB8AC3E}">
        <p14:creationId xmlns:p14="http://schemas.microsoft.com/office/powerpoint/2010/main" val="20182461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972561" y="0"/>
            <a:ext cx="3037840" cy="464820"/>
          </a:xfrm>
          <a:prstGeom prst="rect">
            <a:avLst/>
          </a:prstGeom>
        </p:spPr>
        <p:txBody>
          <a:bodyPr vert="horz" lIns="91440" tIns="45720" rIns="91440" bIns="45720" rtlCol="1"/>
          <a:lstStyle>
            <a:lvl1pPr algn="r">
              <a:defRPr sz="1200"/>
            </a:lvl1pPr>
          </a:lstStyle>
          <a:p>
            <a:endParaRPr lang="he-IL"/>
          </a:p>
        </p:txBody>
      </p:sp>
      <p:sp>
        <p:nvSpPr>
          <p:cNvPr id="3" name="Date Placeholder 2"/>
          <p:cNvSpPr>
            <a:spLocks noGrp="1"/>
          </p:cNvSpPr>
          <p:nvPr>
            <p:ph type="dt" idx="1"/>
          </p:nvPr>
        </p:nvSpPr>
        <p:spPr>
          <a:xfrm>
            <a:off x="1623" y="0"/>
            <a:ext cx="3037840" cy="464820"/>
          </a:xfrm>
          <a:prstGeom prst="rect">
            <a:avLst/>
          </a:prstGeom>
        </p:spPr>
        <p:txBody>
          <a:bodyPr vert="horz" lIns="91440" tIns="45720" rIns="91440" bIns="45720" rtlCol="1"/>
          <a:lstStyle>
            <a:lvl1pPr algn="l">
              <a:defRPr sz="1200"/>
            </a:lvl1pPr>
          </a:lstStyle>
          <a:p>
            <a:fld id="{543B7BDA-9DDC-4E4C-973D-E4A3E66645CD}" type="datetimeFigureOut">
              <a:rPr lang="he-IL" smtClean="0"/>
              <a:pPr/>
              <a:t>י"א/אב/תשע"ט</a:t>
            </a:fld>
            <a:endParaRPr lang="he-IL"/>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1440" tIns="45720" rIns="91440" bIns="45720" rtlCol="1" anchor="ctr"/>
          <a:lstStyle/>
          <a:p>
            <a:endParaRPr lang="he-IL"/>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1440" tIns="45720" rIns="91440" bIns="45720" rtl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3972561" y="8829966"/>
            <a:ext cx="3037840" cy="464820"/>
          </a:xfrm>
          <a:prstGeom prst="rect">
            <a:avLst/>
          </a:prstGeom>
        </p:spPr>
        <p:txBody>
          <a:bodyPr vert="horz" lIns="91440" tIns="45720" rIns="91440" bIns="45720" rtlCol="1" anchor="b"/>
          <a:lstStyle>
            <a:lvl1pPr algn="r">
              <a:defRPr sz="1200"/>
            </a:lvl1pPr>
          </a:lstStyle>
          <a:p>
            <a:endParaRPr lang="he-IL"/>
          </a:p>
        </p:txBody>
      </p:sp>
      <p:sp>
        <p:nvSpPr>
          <p:cNvPr id="7" name="Slide Number Placeholder 6"/>
          <p:cNvSpPr>
            <a:spLocks noGrp="1"/>
          </p:cNvSpPr>
          <p:nvPr>
            <p:ph type="sldNum" sz="quarter" idx="5"/>
          </p:nvPr>
        </p:nvSpPr>
        <p:spPr>
          <a:xfrm>
            <a:off x="1623" y="8829966"/>
            <a:ext cx="3037840" cy="464820"/>
          </a:xfrm>
          <a:prstGeom prst="rect">
            <a:avLst/>
          </a:prstGeom>
        </p:spPr>
        <p:txBody>
          <a:bodyPr vert="horz" lIns="91440" tIns="45720" rIns="91440" bIns="45720" rtlCol="1" anchor="b"/>
          <a:lstStyle>
            <a:lvl1pPr algn="l">
              <a:defRPr sz="1200"/>
            </a:lvl1pPr>
          </a:lstStyle>
          <a:p>
            <a:fld id="{C8C92D0D-AF30-4211-86C4-A3B87597F349}" type="slidenum">
              <a:rPr lang="he-IL" smtClean="0"/>
              <a:pPr/>
              <a:t>‹#›</a:t>
            </a:fld>
            <a:endParaRPr lang="he-IL"/>
          </a:p>
        </p:txBody>
      </p:sp>
    </p:spTree>
    <p:extLst>
      <p:ext uri="{BB962C8B-B14F-4D97-AF65-F5344CB8AC3E}">
        <p14:creationId xmlns:p14="http://schemas.microsoft.com/office/powerpoint/2010/main" val="237179231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8</a:t>
            </a:fld>
            <a:endParaRPr lang="he-IL"/>
          </a:p>
        </p:txBody>
      </p:sp>
    </p:spTree>
    <p:extLst>
      <p:ext uri="{BB962C8B-B14F-4D97-AF65-F5344CB8AC3E}">
        <p14:creationId xmlns:p14="http://schemas.microsoft.com/office/powerpoint/2010/main" val="4038993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16</a:t>
            </a:fld>
            <a:endParaRPr lang="he-IL"/>
          </a:p>
        </p:txBody>
      </p:sp>
    </p:spTree>
    <p:extLst>
      <p:ext uri="{BB962C8B-B14F-4D97-AF65-F5344CB8AC3E}">
        <p14:creationId xmlns:p14="http://schemas.microsoft.com/office/powerpoint/2010/main" val="1791782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18</a:t>
            </a:fld>
            <a:endParaRPr lang="he-IL"/>
          </a:p>
        </p:txBody>
      </p:sp>
    </p:spTree>
    <p:extLst>
      <p:ext uri="{BB962C8B-B14F-4D97-AF65-F5344CB8AC3E}">
        <p14:creationId xmlns:p14="http://schemas.microsoft.com/office/powerpoint/2010/main" val="1768185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21</a:t>
            </a:fld>
            <a:endParaRPr lang="he-IL"/>
          </a:p>
        </p:txBody>
      </p:sp>
    </p:spTree>
    <p:extLst>
      <p:ext uri="{BB962C8B-B14F-4D97-AF65-F5344CB8AC3E}">
        <p14:creationId xmlns:p14="http://schemas.microsoft.com/office/powerpoint/2010/main" val="3472107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24</a:t>
            </a:fld>
            <a:endParaRPr lang="he-IL"/>
          </a:p>
        </p:txBody>
      </p:sp>
    </p:spTree>
    <p:extLst>
      <p:ext uri="{BB962C8B-B14F-4D97-AF65-F5344CB8AC3E}">
        <p14:creationId xmlns:p14="http://schemas.microsoft.com/office/powerpoint/2010/main" val="1430254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26</a:t>
            </a:fld>
            <a:endParaRPr lang="he-IL"/>
          </a:p>
        </p:txBody>
      </p:sp>
    </p:spTree>
    <p:extLst>
      <p:ext uri="{BB962C8B-B14F-4D97-AF65-F5344CB8AC3E}">
        <p14:creationId xmlns:p14="http://schemas.microsoft.com/office/powerpoint/2010/main" val="2974866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8C92D0D-AF30-4211-86C4-A3B87597F349}" type="slidenum">
              <a:rPr lang="he-IL" smtClean="0"/>
              <a:pPr/>
              <a:t>31</a:t>
            </a:fld>
            <a:endParaRPr lang="he-IL"/>
          </a:p>
        </p:txBody>
      </p:sp>
    </p:spTree>
    <p:extLst>
      <p:ext uri="{BB962C8B-B14F-4D97-AF65-F5344CB8AC3E}">
        <p14:creationId xmlns:p14="http://schemas.microsoft.com/office/powerpoint/2010/main" val="42127655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he-IL"/>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he-IL"/>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534400" y="6324601"/>
            <a:ext cx="2844800" cy="365125"/>
          </a:xfrm>
        </p:spPr>
        <p:txBody>
          <a:bodyPr/>
          <a:lstStyle/>
          <a:p>
            <a:r>
              <a:rPr lang="en-US" dirty="0"/>
              <a:t>#</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2400" y="0"/>
            <a:ext cx="1309099" cy="609600"/>
          </a:xfrm>
          <a:prstGeom prst="rect">
            <a:avLst/>
          </a:prstGeom>
        </p:spPr>
      </p:pic>
    </p:spTree>
    <p:extLst>
      <p:ext uri="{BB962C8B-B14F-4D97-AF65-F5344CB8AC3E}">
        <p14:creationId xmlns:p14="http://schemas.microsoft.com/office/powerpoint/2010/main" val="1350909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rtl="0">
              <a:defRPr/>
            </a:lvl1pPr>
          </a:lstStyle>
          <a:p>
            <a:r>
              <a:rPr lang="en-US" dirty="0"/>
              <a:t>Click to edit Master title style</a:t>
            </a:r>
            <a:endParaRPr lang="he-IL" dirty="0"/>
          </a:p>
        </p:txBody>
      </p:sp>
      <p:sp>
        <p:nvSpPr>
          <p:cNvPr id="3" name="Content Placeholder 2"/>
          <p:cNvSpPr>
            <a:spLocks noGrp="1"/>
          </p:cNvSpPr>
          <p:nvPr>
            <p:ph idx="1"/>
          </p:nvPr>
        </p:nvSpPr>
        <p:spPr/>
        <p:txBody>
          <a:bodyPr/>
          <a:lstStyle>
            <a:lvl1pPr algn="l" rtl="0">
              <a:defRPr/>
            </a:lvl1pPr>
            <a:lvl2pPr algn="l" rtl="0">
              <a:defRPr/>
            </a:lvl2pPr>
            <a:lvl3pPr algn="l" rtl="0">
              <a:defRPr/>
            </a:lvl3pPr>
            <a:lvl4pPr algn="l" rtl="0">
              <a:defRPr/>
            </a:lvl4pPr>
            <a:lvl5pPr algn="l" rtl="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5" name="Date Placeholder 4"/>
          <p:cNvSpPr>
            <a:spLocks noGrp="1"/>
          </p:cNvSpPr>
          <p:nvPr>
            <p:ph type="dt" sz="half" idx="10"/>
          </p:nvPr>
        </p:nvSpPr>
        <p:spPr/>
        <p:txBody>
          <a:bodyPr/>
          <a:lstStyle/>
          <a:p>
            <a:fld id="{D7E1C0B7-AB0D-4AF9-9C80-529313F012B2}" type="datetime1">
              <a:rPr lang="en-US" smtClean="0"/>
              <a:t>8/12/2019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258535231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he-IL"/>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785EA-53FD-4C02-B228-D6173C771455}" type="datetime1">
              <a:rPr lang="en-US" smtClean="0"/>
              <a:t>8/12/2019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780514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p:cNvSpPr>
            <a:spLocks noGrp="1"/>
          </p:cNvSpPr>
          <p:nvPr>
            <p:ph type="dt" sz="half" idx="10"/>
          </p:nvPr>
        </p:nvSpPr>
        <p:spPr/>
        <p:txBody>
          <a:bodyPr/>
          <a:lstStyle/>
          <a:p>
            <a:fld id="{281CC226-1649-43B1-904E-445575F6D843}" type="datetime1">
              <a:rPr lang="en-US" smtClean="0"/>
              <a:t>8/12/2019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2921448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he-IL"/>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p:cNvSpPr>
            <a:spLocks noGrp="1"/>
          </p:cNvSpPr>
          <p:nvPr>
            <p:ph type="dt" sz="half" idx="10"/>
          </p:nvPr>
        </p:nvSpPr>
        <p:spPr/>
        <p:txBody>
          <a:bodyPr/>
          <a:lstStyle/>
          <a:p>
            <a:fld id="{187DB346-1C98-4D7A-A038-42C7D81BCC74}" type="datetime1">
              <a:rPr lang="en-US" smtClean="0"/>
              <a:t>8/12/2019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4188264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r">
              <a:defRPr sz="2000" b="1"/>
            </a:lvl1pPr>
          </a:lstStyle>
          <a:p>
            <a:r>
              <a:rPr lang="en-US"/>
              <a:t>Click to edit Master title style</a:t>
            </a:r>
            <a:endParaRPr lang="he-IL"/>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8957FA-2192-4D30-85F4-50FCBB8906EA}" type="datetime1">
              <a:rPr lang="en-US" smtClean="0"/>
              <a:t>8/12/2019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3148310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r">
              <a:defRPr sz="2000" b="1"/>
            </a:lvl1pPr>
          </a:lstStyle>
          <a:p>
            <a:r>
              <a:rPr lang="en-US"/>
              <a:t>Click to edit Master title style</a:t>
            </a:r>
            <a:endParaRPr lang="he-IL"/>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69A04D-59DB-4F0E-946B-E60EE2804D19}" type="datetime1">
              <a:rPr lang="en-US" smtClean="0"/>
              <a:t>8/12/2019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1128352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D3E95BB7-0D1F-422E-A439-E3D10FFFF50C}" type="datetime1">
              <a:rPr lang="en-US" smtClean="0"/>
              <a:t>8/12/2019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55350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he-IL"/>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F9AE77E2-D56A-4D13-B852-5E12B4B66FD9}" type="datetime1">
              <a:rPr lang="en-US" smtClean="0"/>
              <a:t>8/12/2019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1D9778-10B4-40FB-B4E4-44FA89A86639}" type="slidenum">
              <a:rPr lang="en-US" smtClean="0"/>
              <a:pPr/>
              <a:t>‹#›</a:t>
            </a:fld>
            <a:endParaRPr lang="en-US"/>
          </a:p>
        </p:txBody>
      </p:sp>
    </p:spTree>
    <p:extLst>
      <p:ext uri="{BB962C8B-B14F-4D97-AF65-F5344CB8AC3E}">
        <p14:creationId xmlns:p14="http://schemas.microsoft.com/office/powerpoint/2010/main" val="65399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he-IL"/>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he-IL"/>
          </a:p>
        </p:txBody>
      </p:sp>
      <p:sp>
        <p:nvSpPr>
          <p:cNvPr id="4" name="Date Placeholder 3"/>
          <p:cNvSpPr>
            <a:spLocks noGrp="1"/>
          </p:cNvSpPr>
          <p:nvPr>
            <p:ph type="dt" sz="half" idx="10"/>
          </p:nvPr>
        </p:nvSpPr>
        <p:spPr/>
        <p:txBody>
          <a:bodyPr/>
          <a:lstStyle/>
          <a:p>
            <a:fld id="{F9A56542-D9EF-48CC-BC80-FC1900A669A7}" type="datetime1">
              <a:rPr lang="en-US" smtClean="0"/>
              <a:t>8/12/2019</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1476723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2E7EFEE3-D9E9-4AB3-8B20-D4EE39595C09}" type="datetime1">
              <a:rPr lang="en-US" smtClean="0"/>
              <a:t>8/12/2019</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2801793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he-IL"/>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A2761F-557A-4807-80CD-0BD2CB8DEBF4}" type="datetime1">
              <a:rPr lang="en-US" smtClean="0"/>
              <a:t>8/12/2019</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4045206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p:cNvSpPr>
            <a:spLocks noGrp="1"/>
          </p:cNvSpPr>
          <p:nvPr>
            <p:ph type="dt" sz="half" idx="10"/>
          </p:nvPr>
        </p:nvSpPr>
        <p:spPr/>
        <p:txBody>
          <a:bodyPr/>
          <a:lstStyle/>
          <a:p>
            <a:fld id="{A072B448-3344-458D-B2D5-1F6C9A624F64}" type="datetime1">
              <a:rPr lang="en-US" smtClean="0"/>
              <a:t>8/12/2019</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1033596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he-IL"/>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p:cNvSpPr>
            <a:spLocks noGrp="1"/>
          </p:cNvSpPr>
          <p:nvPr>
            <p:ph type="dt" sz="half" idx="10"/>
          </p:nvPr>
        </p:nvSpPr>
        <p:spPr/>
        <p:txBody>
          <a:bodyPr/>
          <a:lstStyle/>
          <a:p>
            <a:fld id="{9C77E48E-29E1-4C50-A1E6-811F23A97FB3}" type="datetime1">
              <a:rPr lang="en-US" smtClean="0"/>
              <a:t>8/12/2019</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1434377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Date Placeholder 2"/>
          <p:cNvSpPr>
            <a:spLocks noGrp="1"/>
          </p:cNvSpPr>
          <p:nvPr>
            <p:ph type="dt" sz="half" idx="10"/>
          </p:nvPr>
        </p:nvSpPr>
        <p:spPr/>
        <p:txBody>
          <a:bodyPr/>
          <a:lstStyle/>
          <a:p>
            <a:fld id="{7D165C0F-2B2B-41CD-8013-10786DEC1461}" type="datetime1">
              <a:rPr lang="en-US" smtClean="0"/>
              <a:t>8/12/2019</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4056327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BDA382-9CD8-4548-8F8F-7A5CC1B3B114}" type="datetime1">
              <a:rPr lang="en-US" smtClean="0"/>
              <a:t>8/12/2019</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35531567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r">
              <a:defRPr sz="2000" b="1"/>
            </a:lvl1pPr>
          </a:lstStyle>
          <a:p>
            <a:r>
              <a:rPr lang="en-US"/>
              <a:t>Click to edit Master title style</a:t>
            </a:r>
            <a:endParaRPr lang="he-IL"/>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6F121F-C50D-4985-8744-3D2413CEF662}" type="datetime1">
              <a:rPr lang="en-US" smtClean="0"/>
              <a:t>8/12/2019</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16771742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r">
              <a:defRPr sz="2000" b="1"/>
            </a:lvl1pPr>
          </a:lstStyle>
          <a:p>
            <a:r>
              <a:rPr lang="en-US"/>
              <a:t>Click to edit Master title style</a:t>
            </a:r>
            <a:endParaRPr lang="he-IL"/>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64038E-4474-40A7-9EC7-E1F16D952348}" type="datetime1">
              <a:rPr lang="en-US" smtClean="0"/>
              <a:t>8/12/2019</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38257067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E2691E7F-4345-49D1-959B-456DEDBD8939}" type="datetime1">
              <a:rPr lang="en-US" smtClean="0"/>
              <a:t>8/12/2019</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4622680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he-IL"/>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F3C6C417-AECC-4DE4-923C-9598FC7789CF}" type="datetime1">
              <a:rPr lang="en-US" smtClean="0"/>
              <a:t>8/12/2019</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AB1A10B0-462A-4BAD-8F21-E79558A17AB5}" type="slidenum">
              <a:rPr lang="he-IL" smtClean="0"/>
              <a:pPr/>
              <a:t>‹#›</a:t>
            </a:fld>
            <a:endParaRPr lang="he-IL"/>
          </a:p>
        </p:txBody>
      </p:sp>
    </p:spTree>
    <p:extLst>
      <p:ext uri="{BB962C8B-B14F-4D97-AF65-F5344CB8AC3E}">
        <p14:creationId xmlns:p14="http://schemas.microsoft.com/office/powerpoint/2010/main" val="2793373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1" anchor="ctr">
            <a:normAutofit/>
          </a:bodyPr>
          <a:lstStyle/>
          <a:p>
            <a:r>
              <a:rPr lang="en-US" dirty="0"/>
              <a:t>Click to edit Master title style</a:t>
            </a:r>
            <a:endParaRPr lang="he-IL"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2"/>
          </p:nvPr>
        </p:nvSpPr>
        <p:spPr>
          <a:xfrm>
            <a:off x="8737600" y="6356351"/>
            <a:ext cx="28448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2A982F35-29BF-4127-A4F3-CE8B20D358F7}" type="datetime1">
              <a:rPr lang="en-US" smtClean="0"/>
              <a:t>8/12/2019</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09600" y="6356351"/>
            <a:ext cx="28448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B01D9778-10B4-40FB-B4E4-44FA89A86639}" type="slidenum">
              <a:rPr lang="en-US" smtClean="0"/>
              <a:pPr/>
              <a:t>‹#›</a:t>
            </a:fld>
            <a:endParaRPr lang="en-US"/>
          </a:p>
        </p:txBody>
      </p:sp>
    </p:spTree>
    <p:extLst>
      <p:ext uri="{BB962C8B-B14F-4D97-AF65-F5344CB8AC3E}">
        <p14:creationId xmlns:p14="http://schemas.microsoft.com/office/powerpoint/2010/main" val="332461226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6" r:id="rId6"/>
    <p:sldLayoutId id="2147483717" r:id="rId7"/>
    <p:sldLayoutId id="2147483718" r:id="rId8"/>
    <p:sldLayoutId id="2147483719" r:id="rId9"/>
  </p:sldLayoutIdLst>
  <p:hf hdr="0" ftr="0" dt="0"/>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1" anchor="ctr">
            <a:normAutofit/>
          </a:bodyPr>
          <a:lstStyle/>
          <a:p>
            <a:r>
              <a:rPr lang="en-US"/>
              <a:t>Click to edit Master title style</a:t>
            </a:r>
            <a:endParaRPr lang="he-IL"/>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2"/>
          </p:nvPr>
        </p:nvSpPr>
        <p:spPr>
          <a:xfrm>
            <a:off x="8737600" y="6356351"/>
            <a:ext cx="28448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E11CCEF1-EE7E-44FC-9507-6A3208406B1E}" type="datetime1">
              <a:rPr lang="en-US" smtClean="0"/>
              <a:t>8/12/2019</a:t>
            </a:fld>
            <a:endParaRPr lang="he-IL"/>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609600" y="6356351"/>
            <a:ext cx="28448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AB1A10B0-462A-4BAD-8F21-E79558A17AB5}" type="slidenum">
              <a:rPr lang="he-IL" smtClean="0"/>
              <a:pPr/>
              <a:t>‹#›</a:t>
            </a:fld>
            <a:endParaRPr lang="he-IL"/>
          </a:p>
        </p:txBody>
      </p:sp>
    </p:spTree>
    <p:extLst>
      <p:ext uri="{BB962C8B-B14F-4D97-AF65-F5344CB8AC3E}">
        <p14:creationId xmlns:p14="http://schemas.microsoft.com/office/powerpoint/2010/main" val="245145429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D3542D-DD48-47BA-824D-D8190DB61CAE}"/>
              </a:ext>
            </a:extLst>
          </p:cNvPr>
          <p:cNvSpPr txBox="1">
            <a:spLocks/>
          </p:cNvSpPr>
          <p:nvPr/>
        </p:nvSpPr>
        <p:spPr>
          <a:xfrm>
            <a:off x="2438400" y="1066800"/>
            <a:ext cx="6502578" cy="1369670"/>
          </a:xfrm>
          <a:prstGeom prst="rect">
            <a:avLst/>
          </a:prstGeom>
        </p:spPr>
        <p:txBody>
          <a:bodyPr vert="horz" lIns="91440" tIns="45720" rIns="91440" bIns="45720" rtlCol="1"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400">
                <a:solidFill>
                  <a:srgbClr val="002060"/>
                </a:solidFill>
              </a:rPr>
              <a:t>Final Presentation</a:t>
            </a:r>
            <a:br>
              <a:rPr lang="en-US" sz="2400">
                <a:solidFill>
                  <a:srgbClr val="002060"/>
                </a:solidFill>
              </a:rPr>
            </a:br>
            <a:br>
              <a:rPr lang="en-US" sz="2400">
                <a:solidFill>
                  <a:srgbClr val="002060"/>
                </a:solidFill>
              </a:rPr>
            </a:br>
            <a:r>
              <a:rPr lang="en-US" sz="3600">
                <a:solidFill>
                  <a:srgbClr val="002060"/>
                </a:solidFill>
              </a:rPr>
              <a:t>SLAM for FSTD</a:t>
            </a:r>
            <a:endParaRPr lang="en-US" dirty="0">
              <a:solidFill>
                <a:srgbClr val="002060"/>
              </a:solidFill>
            </a:endParaRPr>
          </a:p>
        </p:txBody>
      </p:sp>
      <p:sp>
        <p:nvSpPr>
          <p:cNvPr id="6" name="Subtitle 2">
            <a:extLst>
              <a:ext uri="{FF2B5EF4-FFF2-40B4-BE49-F238E27FC236}">
                <a16:creationId xmlns:a16="http://schemas.microsoft.com/office/drawing/2014/main" id="{BD28CA70-4AB4-4138-80E9-18B612A6280B}"/>
              </a:ext>
            </a:extLst>
          </p:cNvPr>
          <p:cNvSpPr txBox="1">
            <a:spLocks/>
          </p:cNvSpPr>
          <p:nvPr/>
        </p:nvSpPr>
        <p:spPr>
          <a:xfrm>
            <a:off x="2368372" y="2574684"/>
            <a:ext cx="7385228" cy="3194733"/>
          </a:xfrm>
          <a:prstGeom prst="rect">
            <a:avLst/>
          </a:prstGeom>
        </p:spPr>
        <p:txBody>
          <a:bodyPr vert="horz" lIns="91440" tIns="45720" rIns="91440" bIns="45720" rtlCol="1">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400" u="sng" dirty="0">
                <a:solidFill>
                  <a:srgbClr val="002060"/>
                </a:solidFill>
              </a:rPr>
              <a:t>Students:</a:t>
            </a:r>
            <a:r>
              <a:rPr lang="en-US" sz="2400" dirty="0">
                <a:solidFill>
                  <a:srgbClr val="002060"/>
                </a:solidFill>
              </a:rPr>
              <a:t> Tom Norman</a:t>
            </a:r>
          </a:p>
          <a:p>
            <a:r>
              <a:rPr lang="en-US" sz="2400" u="sng" dirty="0">
                <a:solidFill>
                  <a:srgbClr val="002060"/>
                </a:solidFill>
              </a:rPr>
              <a:t>Supervisor</a:t>
            </a:r>
            <a:r>
              <a:rPr lang="en-US" sz="2400" dirty="0">
                <a:solidFill>
                  <a:srgbClr val="002060"/>
                </a:solidFill>
              </a:rPr>
              <a:t>: Vadim </a:t>
            </a:r>
            <a:r>
              <a:rPr lang="en-US" sz="2400" dirty="0" err="1">
                <a:solidFill>
                  <a:srgbClr val="002060"/>
                </a:solidFill>
              </a:rPr>
              <a:t>Indelman</a:t>
            </a:r>
            <a:endParaRPr lang="en-US" sz="2400" dirty="0">
              <a:solidFill>
                <a:srgbClr val="002060"/>
              </a:solidFill>
            </a:endParaRPr>
          </a:p>
          <a:p>
            <a:endParaRPr lang="he-IL" sz="1800" dirty="0"/>
          </a:p>
          <a:p>
            <a:r>
              <a:rPr lang="en-US" sz="2000" dirty="0">
                <a:solidFill>
                  <a:srgbClr val="002060"/>
                </a:solidFill>
                <a:cs typeface="+mj-cs"/>
              </a:rPr>
              <a:t>Context: Project A</a:t>
            </a:r>
          </a:p>
          <a:p>
            <a:r>
              <a:rPr lang="en-US" sz="2000" dirty="0">
                <a:solidFill>
                  <a:srgbClr val="002060"/>
                </a:solidFill>
                <a:cs typeface="+mj-cs"/>
              </a:rPr>
              <a:t>Semester:  Spring,  2019</a:t>
            </a:r>
            <a:endParaRPr lang="he-IL" sz="2000" dirty="0">
              <a:solidFill>
                <a:srgbClr val="002060"/>
              </a:solidFill>
              <a:cs typeface="+mj-cs"/>
            </a:endParaRPr>
          </a:p>
          <a:p>
            <a:endParaRPr lang="en-US" sz="1200" dirty="0">
              <a:solidFill>
                <a:srgbClr val="002060"/>
              </a:solidFill>
            </a:endParaRPr>
          </a:p>
          <a:p>
            <a:endParaRPr lang="en-US" sz="2400" dirty="0">
              <a:solidFill>
                <a:srgbClr val="002060"/>
              </a:solidFill>
            </a:endParaRPr>
          </a:p>
          <a:p>
            <a:pPr marL="0" indent="0">
              <a:buNone/>
            </a:pPr>
            <a:endParaRPr lang="en-US" sz="2400" dirty="0"/>
          </a:p>
          <a:p>
            <a:endParaRPr lang="he-IL"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691758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Project Goal</a:t>
            </a:r>
            <a:endParaRPr lang="he-IL" dirty="0">
              <a:solidFill>
                <a:srgbClr val="002060"/>
              </a:solidFill>
            </a:endParaRPr>
          </a:p>
        </p:txBody>
      </p:sp>
      <p:sp>
        <p:nvSpPr>
          <p:cNvPr id="3" name="Content Placeholder 2"/>
          <p:cNvSpPr>
            <a:spLocks noGrp="1"/>
          </p:cNvSpPr>
          <p:nvPr>
            <p:ph idx="1"/>
          </p:nvPr>
        </p:nvSpPr>
        <p:spPr/>
        <p:txBody>
          <a:bodyPr/>
          <a:lstStyle/>
          <a:p>
            <a:pPr marL="0" indent="0" algn="ctr">
              <a:buNone/>
            </a:pPr>
            <a:r>
              <a:rPr lang="en-US" dirty="0">
                <a:solidFill>
                  <a:srgbClr val="002060"/>
                </a:solidFill>
              </a:rPr>
              <a:t>Create basic and robust SLAM system which detects cones in the environment.</a:t>
            </a:r>
            <a:endParaRPr lang="he-IL" dirty="0">
              <a:solidFill>
                <a:srgbClr val="002060"/>
              </a:solidFill>
            </a:endParaRPr>
          </a:p>
        </p:txBody>
      </p:sp>
      <p:sp>
        <p:nvSpPr>
          <p:cNvPr id="5" name="Slide Number Placeholder 4"/>
          <p:cNvSpPr>
            <a:spLocks noGrp="1"/>
          </p:cNvSpPr>
          <p:nvPr>
            <p:ph type="sldNum" sz="quarter" idx="12"/>
          </p:nvPr>
        </p:nvSpPr>
        <p:spPr/>
        <p:txBody>
          <a:bodyPr/>
          <a:lstStyle/>
          <a:p>
            <a:fld id="{B01D9778-10B4-40FB-B4E4-44FA89A86639}" type="slidenum">
              <a:rPr lang="en-US" smtClean="0"/>
              <a:pPr/>
              <a:t>2</a:t>
            </a:fld>
            <a:endParaRPr lang="en-US"/>
          </a:p>
        </p:txBody>
      </p:sp>
    </p:spTree>
    <p:extLst>
      <p:ext uri="{BB962C8B-B14F-4D97-AF65-F5344CB8AC3E}">
        <p14:creationId xmlns:p14="http://schemas.microsoft.com/office/powerpoint/2010/main" val="334877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Background</a:t>
            </a:r>
            <a:endParaRPr lang="he-IL" dirty="0">
              <a:solidFill>
                <a:srgbClr val="002060"/>
              </a:solidFill>
            </a:endParaRPr>
          </a:p>
        </p:txBody>
      </p:sp>
      <p:sp>
        <p:nvSpPr>
          <p:cNvPr id="3" name="Content Placeholder 2"/>
          <p:cNvSpPr>
            <a:spLocks noGrp="1"/>
          </p:cNvSpPr>
          <p:nvPr>
            <p:ph idx="1"/>
          </p:nvPr>
        </p:nvSpPr>
        <p:spPr/>
        <p:txBody>
          <a:bodyPr>
            <a:normAutofit/>
          </a:bodyPr>
          <a:lstStyle/>
          <a:p>
            <a:r>
              <a:rPr lang="en-US" dirty="0">
                <a:solidFill>
                  <a:srgbClr val="002060"/>
                </a:solidFill>
              </a:rPr>
              <a:t>In previous project camera-based and LIDAR-based SLAM were tested and the conclusion was stereo-camera-based solution called SERVO.</a:t>
            </a:r>
            <a:r>
              <a:rPr lang="en-US" baseline="30000" dirty="0">
                <a:solidFill>
                  <a:srgbClr val="002060"/>
                </a:solidFill>
              </a:rPr>
              <a:t>1</a:t>
            </a:r>
          </a:p>
          <a:p>
            <a:r>
              <a:rPr lang="en-US" dirty="0">
                <a:solidFill>
                  <a:srgbClr val="002060"/>
                </a:solidFill>
              </a:rPr>
              <a:t>SERVO uses modified stereo-ORB-SLAM (an open source SLAM package) with ROVIO (an open source Localization package).</a:t>
            </a:r>
          </a:p>
          <a:p>
            <a:r>
              <a:rPr lang="en-US" dirty="0">
                <a:solidFill>
                  <a:srgbClr val="002060"/>
                </a:solidFill>
              </a:rPr>
              <a:t>For cones detection YOLO (an open source classification CNN) was chosen.</a:t>
            </a:r>
            <a:r>
              <a:rPr lang="en-US" baseline="30000" dirty="0">
                <a:solidFill>
                  <a:srgbClr val="002060"/>
                </a:solidFill>
              </a:rPr>
              <a:t>1</a:t>
            </a:r>
          </a:p>
        </p:txBody>
      </p:sp>
      <p:sp>
        <p:nvSpPr>
          <p:cNvPr id="5" name="Slide Number Placeholder 4"/>
          <p:cNvSpPr>
            <a:spLocks noGrp="1"/>
          </p:cNvSpPr>
          <p:nvPr>
            <p:ph type="sldNum" sz="quarter" idx="12"/>
          </p:nvPr>
        </p:nvSpPr>
        <p:spPr/>
        <p:txBody>
          <a:bodyPr/>
          <a:lstStyle/>
          <a:p>
            <a:fld id="{B01D9778-10B4-40FB-B4E4-44FA89A86639}" type="slidenum">
              <a:rPr lang="en-US" smtClean="0"/>
              <a:pPr/>
              <a:t>3</a:t>
            </a:fld>
            <a:endParaRPr lang="en-US"/>
          </a:p>
        </p:txBody>
      </p:sp>
    </p:spTree>
    <p:extLst>
      <p:ext uri="{BB962C8B-B14F-4D97-AF65-F5344CB8AC3E}">
        <p14:creationId xmlns:p14="http://schemas.microsoft.com/office/powerpoint/2010/main" val="746629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Chosen Solution</a:t>
            </a:r>
            <a:endParaRPr lang="he-IL" dirty="0">
              <a:solidFill>
                <a:srgbClr val="002060"/>
              </a:solidFill>
            </a:endParaRPr>
          </a:p>
        </p:txBody>
      </p:sp>
      <p:sp>
        <p:nvSpPr>
          <p:cNvPr id="3" name="Content Placeholder 2"/>
          <p:cNvSpPr>
            <a:spLocks noGrp="1"/>
          </p:cNvSpPr>
          <p:nvPr>
            <p:ph idx="1"/>
          </p:nvPr>
        </p:nvSpPr>
        <p:spPr/>
        <p:txBody>
          <a:bodyPr/>
          <a:lstStyle/>
          <a:p>
            <a:r>
              <a:rPr lang="en-US" dirty="0">
                <a:solidFill>
                  <a:srgbClr val="002060"/>
                </a:solidFill>
              </a:rPr>
              <a:t>We chose to implement the most basic system first and then upgrade:</a:t>
            </a:r>
          </a:p>
          <a:p>
            <a:pPr lvl="1"/>
            <a:r>
              <a:rPr lang="en-US" dirty="0">
                <a:solidFill>
                  <a:srgbClr val="002060"/>
                </a:solidFill>
              </a:rPr>
              <a:t>cone_slam: Monocular ORB-SLAM + YOLO</a:t>
            </a:r>
          </a:p>
          <a:p>
            <a:pPr lvl="1"/>
            <a:r>
              <a:rPr lang="en-US" dirty="0">
                <a:solidFill>
                  <a:srgbClr val="002060"/>
                </a:solidFill>
              </a:rPr>
              <a:t>cone_slam2: SERVO + YOLO</a:t>
            </a:r>
          </a:p>
          <a:p>
            <a:pPr marL="457200" lvl="1" indent="0">
              <a:buNone/>
            </a:pPr>
            <a:r>
              <a:rPr lang="en-US" dirty="0">
                <a:solidFill>
                  <a:srgbClr val="002060"/>
                </a:solidFill>
              </a:rPr>
              <a:t>Those phases were chosen because we needed to demonstrate an autonomous driving at EcoMotion (11.7.19) and this was the fastest way to understand ORB-SLAM and implement.</a:t>
            </a:r>
          </a:p>
        </p:txBody>
      </p:sp>
      <p:sp>
        <p:nvSpPr>
          <p:cNvPr id="5" name="Slide Number Placeholder 4"/>
          <p:cNvSpPr>
            <a:spLocks noGrp="1"/>
          </p:cNvSpPr>
          <p:nvPr>
            <p:ph type="sldNum" sz="quarter" idx="12"/>
          </p:nvPr>
        </p:nvSpPr>
        <p:spPr/>
        <p:txBody>
          <a:bodyPr/>
          <a:lstStyle/>
          <a:p>
            <a:fld id="{B01D9778-10B4-40FB-B4E4-44FA89A86639}" type="slidenum">
              <a:rPr lang="en-US" smtClean="0"/>
              <a:pPr/>
              <a:t>4</a:t>
            </a:fld>
            <a:endParaRPr lang="en-US"/>
          </a:p>
        </p:txBody>
      </p:sp>
    </p:spTree>
    <p:extLst>
      <p:ext uri="{BB962C8B-B14F-4D97-AF65-F5344CB8AC3E}">
        <p14:creationId xmlns:p14="http://schemas.microsoft.com/office/powerpoint/2010/main" val="1202081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1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F27797-EDF3-4EDF-98A4-C93BC3606936}"/>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nSpc>
                <a:spcPct val="90000"/>
              </a:lnSpc>
            </a:pPr>
            <a:r>
              <a:rPr lang="en-US" sz="2200" kern="1200" dirty="0" err="1">
                <a:solidFill>
                  <a:schemeClr val="bg1"/>
                </a:solidFill>
                <a:latin typeface="+mj-lt"/>
                <a:ea typeface="+mj-ea"/>
                <a:cs typeface="+mj-cs"/>
              </a:rPr>
              <a:t>cone_slam</a:t>
            </a:r>
            <a:endParaRPr lang="en-US" sz="2200" kern="1200" dirty="0">
              <a:solidFill>
                <a:schemeClr val="bg1"/>
              </a:solidFill>
              <a:latin typeface="+mj-lt"/>
              <a:ea typeface="+mj-ea"/>
              <a:cs typeface="+mj-cs"/>
            </a:endParaRPr>
          </a:p>
        </p:txBody>
      </p:sp>
      <p:sp>
        <p:nvSpPr>
          <p:cNvPr id="4" name="Slide Number Placeholder 3">
            <a:extLst>
              <a:ext uri="{FF2B5EF4-FFF2-40B4-BE49-F238E27FC236}">
                <a16:creationId xmlns:a16="http://schemas.microsoft.com/office/drawing/2014/main" id="{F7B19402-D40F-4A15-B366-2864E47CEDF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lgn="r">
              <a:spcAft>
                <a:spcPts val="600"/>
              </a:spcAft>
            </a:pPr>
            <a:fld id="{B01D9778-10B4-40FB-B4E4-44FA89A86639}" type="slidenum">
              <a:rPr lang="en-US" smtClean="0"/>
              <a:pPr algn="r">
                <a:spcAft>
                  <a:spcPts val="600"/>
                </a:spcAft>
              </a:pPr>
              <a:t>5</a:t>
            </a:fld>
            <a:endParaRPr lang="en-US"/>
          </a:p>
        </p:txBody>
      </p:sp>
      <p:pic>
        <p:nvPicPr>
          <p:cNvPr id="7" name="Content Placeholder 6">
            <a:extLst>
              <a:ext uri="{FF2B5EF4-FFF2-40B4-BE49-F238E27FC236}">
                <a16:creationId xmlns:a16="http://schemas.microsoft.com/office/drawing/2014/main" id="{31D6FA75-EC03-4E99-93C0-1B35AC039360}"/>
              </a:ext>
            </a:extLst>
          </p:cNvPr>
          <p:cNvPicPr>
            <a:picLocks noGrp="1" noChangeAspect="1"/>
          </p:cNvPicPr>
          <p:nvPr>
            <p:ph idx="1"/>
          </p:nvPr>
        </p:nvPicPr>
        <p:blipFill>
          <a:blip r:embed="rId2"/>
          <a:stretch>
            <a:fillRect/>
          </a:stretch>
        </p:blipFill>
        <p:spPr>
          <a:xfrm>
            <a:off x="0" y="2263708"/>
            <a:ext cx="12192000" cy="3603691"/>
          </a:xfrm>
          <a:prstGeom prst="rect">
            <a:avLst/>
          </a:prstGeom>
        </p:spPr>
      </p:pic>
    </p:spTree>
    <p:extLst>
      <p:ext uri="{BB962C8B-B14F-4D97-AF65-F5344CB8AC3E}">
        <p14:creationId xmlns:p14="http://schemas.microsoft.com/office/powerpoint/2010/main" val="3312965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A185E-490B-45CB-9021-1F0DDE2C9529}"/>
              </a:ext>
            </a:extLst>
          </p:cNvPr>
          <p:cNvSpPr>
            <a:spLocks noGrp="1"/>
          </p:cNvSpPr>
          <p:nvPr>
            <p:ph type="title"/>
          </p:nvPr>
        </p:nvSpPr>
        <p:spPr/>
        <p:txBody>
          <a:bodyPr/>
          <a:lstStyle/>
          <a:p>
            <a:r>
              <a:rPr lang="en-US" dirty="0"/>
              <a:t>The pipeline</a:t>
            </a:r>
            <a:endParaRPr lang="en-IL" dirty="0"/>
          </a:p>
        </p:txBody>
      </p:sp>
      <p:sp>
        <p:nvSpPr>
          <p:cNvPr id="3" name="Content Placeholder 2">
            <a:extLst>
              <a:ext uri="{FF2B5EF4-FFF2-40B4-BE49-F238E27FC236}">
                <a16:creationId xmlns:a16="http://schemas.microsoft.com/office/drawing/2014/main" id="{414728EE-7C60-4875-A514-E737C4A8C58F}"/>
              </a:ext>
            </a:extLst>
          </p:cNvPr>
          <p:cNvSpPr>
            <a:spLocks noGrp="1"/>
          </p:cNvSpPr>
          <p:nvPr>
            <p:ph idx="1"/>
          </p:nvPr>
        </p:nvSpPr>
        <p:spPr/>
        <p:txBody>
          <a:bodyPr/>
          <a:lstStyle/>
          <a:p>
            <a:r>
              <a:rPr lang="en-US" dirty="0"/>
              <a:t>Step 1: Acquire image</a:t>
            </a:r>
          </a:p>
          <a:p>
            <a:r>
              <a:rPr lang="en-US" dirty="0"/>
              <a:t>Step 2: SLAM + Classification</a:t>
            </a:r>
          </a:p>
          <a:p>
            <a:r>
              <a:rPr lang="en-US" dirty="0"/>
              <a:t>Step 3: Clustering</a:t>
            </a:r>
          </a:p>
          <a:p>
            <a:r>
              <a:rPr lang="en-US" dirty="0"/>
              <a:t>Communication between steps: ROS (Robot Operating System)</a:t>
            </a:r>
          </a:p>
          <a:p>
            <a:r>
              <a:rPr lang="en-US" dirty="0"/>
              <a:t>Debug unit</a:t>
            </a:r>
            <a:endParaRPr lang="en-IL" dirty="0"/>
          </a:p>
        </p:txBody>
      </p:sp>
      <p:sp>
        <p:nvSpPr>
          <p:cNvPr id="4" name="Slide Number Placeholder 3">
            <a:extLst>
              <a:ext uri="{FF2B5EF4-FFF2-40B4-BE49-F238E27FC236}">
                <a16:creationId xmlns:a16="http://schemas.microsoft.com/office/drawing/2014/main" id="{7D2F9657-5D7D-46CD-8F84-8D2D4A580BFB}"/>
              </a:ext>
            </a:extLst>
          </p:cNvPr>
          <p:cNvSpPr>
            <a:spLocks noGrp="1"/>
          </p:cNvSpPr>
          <p:nvPr>
            <p:ph type="sldNum" sz="quarter" idx="12"/>
          </p:nvPr>
        </p:nvSpPr>
        <p:spPr/>
        <p:txBody>
          <a:bodyPr/>
          <a:lstStyle/>
          <a:p>
            <a:fld id="{B01D9778-10B4-40FB-B4E4-44FA89A86639}" type="slidenum">
              <a:rPr lang="en-US" smtClean="0"/>
              <a:pPr/>
              <a:t>6</a:t>
            </a:fld>
            <a:endParaRPr lang="en-US"/>
          </a:p>
        </p:txBody>
      </p:sp>
    </p:spTree>
    <p:extLst>
      <p:ext uri="{BB962C8B-B14F-4D97-AF65-F5344CB8AC3E}">
        <p14:creationId xmlns:p14="http://schemas.microsoft.com/office/powerpoint/2010/main" val="1234690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05C7C05-9D63-4D5C-A3B4-578F19E049E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025"/>
          <a:stretch/>
        </p:blipFill>
        <p:spPr bwMode="auto">
          <a:xfrm>
            <a:off x="-1" y="10"/>
            <a:ext cx="12192000" cy="6857990"/>
          </a:xfrm>
          <a:prstGeom prst="rect">
            <a:avLst/>
          </a:prstGeom>
          <a:noFill/>
          <a:extLst>
            <a:ext uri="{909E8E84-426E-40DD-AFC4-6F175D3DCCD1}">
              <a14:hiddenFill xmlns:a14="http://schemas.microsoft.com/office/drawing/2010/main">
                <a:solidFill>
                  <a:srgbClr val="FFFFFF"/>
                </a:solidFill>
              </a14:hiddenFill>
            </a:ext>
          </a:extLst>
        </p:spPr>
      </p:pic>
      <p:sp>
        <p:nvSpPr>
          <p:cNvPr id="135"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p:cNvSpPr>
            <a:spLocks noGrp="1"/>
          </p:cNvSpPr>
          <p:nvPr>
            <p:ph type="title"/>
          </p:nvPr>
        </p:nvSpPr>
        <p:spPr>
          <a:xfrm>
            <a:off x="709448" y="1913950"/>
            <a:ext cx="4204137" cy="1342754"/>
          </a:xfrm>
        </p:spPr>
        <p:txBody>
          <a:bodyPr>
            <a:normAutofit/>
          </a:bodyPr>
          <a:lstStyle/>
          <a:p>
            <a:r>
              <a:rPr lang="en-US" sz="3600"/>
              <a:t>Step 1:</a:t>
            </a:r>
            <a:br>
              <a:rPr lang="en-US" sz="3600"/>
            </a:br>
            <a:r>
              <a:rPr lang="en-US" sz="3600"/>
              <a:t>Acquire image</a:t>
            </a:r>
            <a:endParaRPr lang="he-IL" sz="3600"/>
          </a:p>
        </p:txBody>
      </p:sp>
      <p:cxnSp>
        <p:nvCxnSpPr>
          <p:cNvPr id="137" name="Straight Connector 136">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525516" y="3417573"/>
            <a:ext cx="4593021" cy="2619839"/>
          </a:xfrm>
        </p:spPr>
        <p:txBody>
          <a:bodyPr anchor="ctr">
            <a:normAutofit/>
          </a:bodyPr>
          <a:lstStyle/>
          <a:p>
            <a:r>
              <a:rPr lang="en-US" sz="1800"/>
              <a:t>We used ZED Mini</a:t>
            </a:r>
          </a:p>
          <a:p>
            <a:pPr lvl="1"/>
            <a:r>
              <a:rPr lang="en-US" sz="1800"/>
              <a:t>Has ROS  wrapper</a:t>
            </a:r>
          </a:p>
          <a:p>
            <a:pPr lvl="1"/>
            <a:r>
              <a:rPr lang="en-US" sz="1800"/>
              <a:t>Was available until the demo from GIP in CS</a:t>
            </a:r>
          </a:p>
        </p:txBody>
      </p:sp>
    </p:spTree>
    <p:extLst>
      <p:ext uri="{BB962C8B-B14F-4D97-AF65-F5344CB8AC3E}">
        <p14:creationId xmlns:p14="http://schemas.microsoft.com/office/powerpoint/2010/main" val="1891136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87136F-DA21-4D9A-9B34-09A64D025DA8}"/>
              </a:ext>
            </a:extLst>
          </p:cNvPr>
          <p:cNvPicPr>
            <a:picLocks noChangeAspect="1"/>
          </p:cNvPicPr>
          <p:nvPr/>
        </p:nvPicPr>
        <p:blipFill rotWithShape="1">
          <a:blip r:embed="rId3"/>
          <a:srcRect b="2174"/>
          <a:stretch/>
        </p:blipFill>
        <p:spPr>
          <a:xfrm>
            <a:off x="-1" y="10"/>
            <a:ext cx="12192000" cy="6857990"/>
          </a:xfrm>
          <a:prstGeom prst="rect">
            <a:avLst/>
          </a:prstGeom>
        </p:spPr>
      </p:pic>
      <p:sp>
        <p:nvSpPr>
          <p:cNvPr id="24"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3AC56CE6-F615-4177-90E9-E9A81EC0021A}"/>
              </a:ext>
            </a:extLst>
          </p:cNvPr>
          <p:cNvSpPr>
            <a:spLocks noGrp="1"/>
          </p:cNvSpPr>
          <p:nvPr>
            <p:ph type="title"/>
          </p:nvPr>
        </p:nvSpPr>
        <p:spPr>
          <a:xfrm>
            <a:off x="709448" y="1913950"/>
            <a:ext cx="4204137" cy="1342754"/>
          </a:xfrm>
        </p:spPr>
        <p:txBody>
          <a:bodyPr>
            <a:normAutofit/>
          </a:bodyPr>
          <a:lstStyle/>
          <a:p>
            <a:r>
              <a:rPr lang="en-US" sz="3600" dirty="0"/>
              <a:t>Step 2:</a:t>
            </a:r>
            <a:br>
              <a:rPr lang="en-US" sz="3600" dirty="0"/>
            </a:br>
            <a:r>
              <a:rPr lang="en-US" sz="3600" dirty="0"/>
              <a:t>SLAM + Classification</a:t>
            </a:r>
            <a:endParaRPr lang="en-IL" sz="3600" dirty="0"/>
          </a:p>
        </p:txBody>
      </p:sp>
      <p:cxnSp>
        <p:nvCxnSpPr>
          <p:cNvPr id="26" name="Straight Connector 25">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4EB6374-864C-41EC-A464-F96BF2C424AC}"/>
              </a:ext>
            </a:extLst>
          </p:cNvPr>
          <p:cNvSpPr>
            <a:spLocks noGrp="1"/>
          </p:cNvSpPr>
          <p:nvPr>
            <p:ph idx="1"/>
          </p:nvPr>
        </p:nvSpPr>
        <p:spPr>
          <a:xfrm>
            <a:off x="525516" y="3417573"/>
            <a:ext cx="4593021" cy="2619839"/>
          </a:xfrm>
        </p:spPr>
        <p:txBody>
          <a:bodyPr anchor="ctr">
            <a:normAutofit/>
          </a:bodyPr>
          <a:lstStyle/>
          <a:p>
            <a:r>
              <a:rPr lang="en-US" sz="1800"/>
              <a:t>SLAM solution: ORB-SLAM2</a:t>
            </a:r>
          </a:p>
          <a:p>
            <a:r>
              <a:rPr lang="en-US" sz="1800"/>
              <a:t>Classification solution: YOLO</a:t>
            </a:r>
          </a:p>
          <a:p>
            <a:pPr marL="0" indent="0">
              <a:buNone/>
            </a:pPr>
            <a:endParaRPr lang="en-IL" sz="1800"/>
          </a:p>
        </p:txBody>
      </p:sp>
    </p:spTree>
    <p:extLst>
      <p:ext uri="{BB962C8B-B14F-4D97-AF65-F5344CB8AC3E}">
        <p14:creationId xmlns:p14="http://schemas.microsoft.com/office/powerpoint/2010/main" val="3566650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3E178-A627-4112-82E1-A4BE5358E3CE}"/>
              </a:ext>
            </a:extLst>
          </p:cNvPr>
          <p:cNvSpPr>
            <a:spLocks noGrp="1"/>
          </p:cNvSpPr>
          <p:nvPr>
            <p:ph type="title"/>
          </p:nvPr>
        </p:nvSpPr>
        <p:spPr/>
        <p:txBody>
          <a:bodyPr>
            <a:normAutofit/>
          </a:bodyPr>
          <a:lstStyle/>
          <a:p>
            <a:r>
              <a:rPr lang="en-US" dirty="0"/>
              <a:t>SLAM- Simultaneous Localization And Mapping</a:t>
            </a:r>
            <a:endParaRPr lang="en-IL" dirty="0"/>
          </a:p>
        </p:txBody>
      </p:sp>
      <p:sp>
        <p:nvSpPr>
          <p:cNvPr id="4" name="Slide Number Placeholder 3">
            <a:extLst>
              <a:ext uri="{FF2B5EF4-FFF2-40B4-BE49-F238E27FC236}">
                <a16:creationId xmlns:a16="http://schemas.microsoft.com/office/drawing/2014/main" id="{51CA8CDA-4E21-4585-9701-C27644F929EE}"/>
              </a:ext>
            </a:extLst>
          </p:cNvPr>
          <p:cNvSpPr>
            <a:spLocks noGrp="1"/>
          </p:cNvSpPr>
          <p:nvPr>
            <p:ph type="sldNum" sz="quarter" idx="12"/>
          </p:nvPr>
        </p:nvSpPr>
        <p:spPr/>
        <p:txBody>
          <a:bodyPr/>
          <a:lstStyle/>
          <a:p>
            <a:fld id="{B01D9778-10B4-40FB-B4E4-44FA89A86639}" type="slidenum">
              <a:rPr lang="en-US" smtClean="0"/>
              <a:pPr/>
              <a:t>9</a:t>
            </a:fld>
            <a:endParaRPr lang="en-US"/>
          </a:p>
        </p:txBody>
      </p:sp>
      <p:sp>
        <p:nvSpPr>
          <p:cNvPr id="10" name="Content Placeholder 9">
            <a:extLst>
              <a:ext uri="{FF2B5EF4-FFF2-40B4-BE49-F238E27FC236}">
                <a16:creationId xmlns:a16="http://schemas.microsoft.com/office/drawing/2014/main" id="{B0B523EC-58ED-428B-9C9A-59D614D21624}"/>
              </a:ext>
            </a:extLst>
          </p:cNvPr>
          <p:cNvSpPr>
            <a:spLocks noGrp="1"/>
          </p:cNvSpPr>
          <p:nvPr>
            <p:ph idx="1"/>
          </p:nvPr>
        </p:nvSpPr>
        <p:spPr/>
        <p:txBody>
          <a:bodyPr>
            <a:normAutofit fontScale="92500" lnSpcReduction="20000"/>
          </a:bodyPr>
          <a:lstStyle/>
          <a:p>
            <a:pPr marL="285840" indent="-228240">
              <a:buClr>
                <a:srgbClr val="000000"/>
              </a:buClr>
              <a:buFont typeface="Arial"/>
              <a:buChar char="•"/>
            </a:pPr>
            <a:r>
              <a:rPr lang="en-US" sz="3600" spc="-1" dirty="0">
                <a:solidFill>
                  <a:srgbClr val="000000"/>
                </a:solidFill>
                <a:uFill>
                  <a:solidFill>
                    <a:srgbClr val="FFFFFF"/>
                  </a:solidFill>
                </a:uFill>
                <a:latin typeface="Times New Roman"/>
              </a:rPr>
              <a:t>Generate a map of the environment while finding current location in it.</a:t>
            </a:r>
            <a:endParaRPr lang="en-US" sz="2800" spc="-1" dirty="0">
              <a:solidFill>
                <a:srgbClr val="000000"/>
              </a:solidFill>
              <a:uFill>
                <a:solidFill>
                  <a:srgbClr val="FFFFFF"/>
                </a:solidFill>
              </a:uFill>
              <a:latin typeface="Times New Roman"/>
            </a:endParaRPr>
          </a:p>
          <a:p>
            <a:pPr marL="285840" indent="-228240">
              <a:buClr>
                <a:srgbClr val="000000"/>
              </a:buClr>
              <a:buFont typeface="Arial"/>
              <a:buChar char="•"/>
            </a:pPr>
            <a:r>
              <a:rPr lang="en-US" sz="3600" spc="-1" dirty="0">
                <a:solidFill>
                  <a:srgbClr val="000000"/>
                </a:solidFill>
                <a:uFill>
                  <a:solidFill>
                    <a:srgbClr val="FFFFFF"/>
                  </a:solidFill>
                </a:uFill>
                <a:latin typeface="Times New Roman"/>
              </a:rPr>
              <a:t>Visual SLAM– using cameras instead of lasers to find the 3D coordinates of ‘interesting’ points in an image.</a:t>
            </a:r>
            <a:endParaRPr lang="en-US" sz="2800" spc="-1" dirty="0">
              <a:solidFill>
                <a:srgbClr val="000000"/>
              </a:solidFill>
              <a:uFill>
                <a:solidFill>
                  <a:srgbClr val="FFFFFF"/>
                </a:solidFill>
              </a:uFill>
              <a:latin typeface="Times New Roman"/>
            </a:endParaRPr>
          </a:p>
          <a:p>
            <a:pPr marL="285840" indent="-228240">
              <a:buClr>
                <a:srgbClr val="000000"/>
              </a:buClr>
              <a:buFont typeface="Arial"/>
              <a:buChar char="•"/>
            </a:pPr>
            <a:r>
              <a:rPr lang="en-US" spc="-1" dirty="0">
                <a:solidFill>
                  <a:srgbClr val="000000"/>
                </a:solidFill>
                <a:uFill>
                  <a:solidFill>
                    <a:srgbClr val="FFFFFF"/>
                  </a:solidFill>
                </a:uFill>
                <a:latin typeface="Times New Roman"/>
              </a:rPr>
              <a:t>Monocular SLAM– using one camera (unlike stereo). Its scale independent, meaning the algorithm only gives ratios of distance, but faster than other methods.</a:t>
            </a:r>
            <a:endParaRPr lang="en-US" sz="2800" spc="-1" dirty="0">
              <a:solidFill>
                <a:srgbClr val="000000"/>
              </a:solidFill>
              <a:uFill>
                <a:solidFill>
                  <a:srgbClr val="FFFFFF"/>
                </a:solidFill>
              </a:uFill>
              <a:latin typeface="Times New Roman"/>
            </a:endParaRPr>
          </a:p>
          <a:p>
            <a:pPr marL="285840" indent="-228240">
              <a:buClr>
                <a:srgbClr val="000000"/>
              </a:buClr>
              <a:buFont typeface="Arial"/>
              <a:buChar char="•"/>
            </a:pPr>
            <a:r>
              <a:rPr lang="en-US" spc="-1" dirty="0">
                <a:solidFill>
                  <a:srgbClr val="000000"/>
                </a:solidFill>
                <a:uFill>
                  <a:solidFill>
                    <a:srgbClr val="FFFFFF"/>
                  </a:solidFill>
                </a:uFill>
                <a:latin typeface="Times New Roman"/>
              </a:rPr>
              <a:t>With time there is error accumulation; solution is Loop Closing.</a:t>
            </a:r>
            <a:endParaRPr lang="en-US" sz="2800" spc="-1" dirty="0">
              <a:solidFill>
                <a:srgbClr val="000000"/>
              </a:solidFill>
              <a:uFill>
                <a:solidFill>
                  <a:srgbClr val="FFFFFF"/>
                </a:solidFill>
              </a:uFill>
              <a:latin typeface="Times New Roman"/>
            </a:endParaRPr>
          </a:p>
          <a:p>
            <a:pPr marL="285840" indent="-228240">
              <a:buClr>
                <a:srgbClr val="000000"/>
              </a:buClr>
              <a:buFont typeface="Arial"/>
              <a:buChar char="•"/>
            </a:pPr>
            <a:r>
              <a:rPr lang="en-US" spc="-1" dirty="0">
                <a:solidFill>
                  <a:srgbClr val="000000"/>
                </a:solidFill>
                <a:uFill>
                  <a:solidFill>
                    <a:srgbClr val="FFFFFF"/>
                  </a:solidFill>
                </a:uFill>
                <a:latin typeface="Times New Roman"/>
              </a:rPr>
              <a:t>Loop Closing – deciding that current location was already visited and changing the map accordingly.</a:t>
            </a:r>
            <a:endParaRPr lang="en-US" sz="2800" spc="-1" dirty="0">
              <a:solidFill>
                <a:srgbClr val="000000"/>
              </a:solidFill>
              <a:uFill>
                <a:solidFill>
                  <a:srgbClr val="FFFFFF"/>
                </a:solidFill>
              </a:uFill>
              <a:latin typeface="Times New Roman"/>
            </a:endParaRPr>
          </a:p>
        </p:txBody>
      </p:sp>
    </p:spTree>
    <p:extLst>
      <p:ext uri="{BB962C8B-B14F-4D97-AF65-F5344CB8AC3E}">
        <p14:creationId xmlns:p14="http://schemas.microsoft.com/office/powerpoint/2010/main" val="4285931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3FA0F-1D28-43E2-9F41-BEF8DF905F42}"/>
              </a:ext>
            </a:extLst>
          </p:cNvPr>
          <p:cNvSpPr>
            <a:spLocks noGrp="1"/>
          </p:cNvSpPr>
          <p:nvPr>
            <p:ph type="title"/>
          </p:nvPr>
        </p:nvSpPr>
        <p:spPr>
          <a:xfrm>
            <a:off x="838200" y="365125"/>
            <a:ext cx="10515600" cy="1325563"/>
          </a:xfrm>
        </p:spPr>
        <p:txBody>
          <a:bodyPr>
            <a:normAutofit/>
          </a:bodyPr>
          <a:lstStyle/>
          <a:p>
            <a:r>
              <a:rPr lang="en-US" dirty="0"/>
              <a:t>ORB-SLAM</a:t>
            </a:r>
            <a:endParaRPr lang="en-IL" dirty="0"/>
          </a:p>
        </p:txBody>
      </p:sp>
      <p:sp>
        <p:nvSpPr>
          <p:cNvPr id="6" name="Content Placeholder 5">
            <a:extLst>
              <a:ext uri="{FF2B5EF4-FFF2-40B4-BE49-F238E27FC236}">
                <a16:creationId xmlns:a16="http://schemas.microsoft.com/office/drawing/2014/main" id="{6FB91315-241E-4A72-B9AD-9A400D611534}"/>
              </a:ext>
            </a:extLst>
          </p:cNvPr>
          <p:cNvSpPr>
            <a:spLocks noGrp="1"/>
          </p:cNvSpPr>
          <p:nvPr>
            <p:ph idx="1"/>
          </p:nvPr>
        </p:nvSpPr>
        <p:spPr>
          <a:xfrm>
            <a:off x="838200" y="1825625"/>
            <a:ext cx="3797807" cy="4351338"/>
          </a:xfrm>
        </p:spPr>
        <p:txBody>
          <a:bodyPr>
            <a:normAutofit/>
          </a:bodyPr>
          <a:lstStyle/>
          <a:p>
            <a:pPr marL="285840" indent="-228240">
              <a:lnSpc>
                <a:spcPct val="90000"/>
              </a:lnSpc>
              <a:buClr>
                <a:srgbClr val="00B050"/>
              </a:buClr>
              <a:buFont typeface="Arial"/>
              <a:buChar char="•"/>
            </a:pPr>
            <a:r>
              <a:rPr lang="en-US" sz="1700" spc="-1" dirty="0">
                <a:uFill>
                  <a:solidFill>
                    <a:srgbClr val="FFFFFF"/>
                  </a:solidFill>
                </a:uFill>
                <a:latin typeface="Times New Roman"/>
              </a:rPr>
              <a:t>The system works with 3 threads, each responsible with different task: </a:t>
            </a:r>
            <a:r>
              <a:rPr lang="en-US" sz="1700" b="1" spc="-1" dirty="0">
                <a:uFill>
                  <a:solidFill>
                    <a:srgbClr val="FFFFFF"/>
                  </a:solidFill>
                </a:uFill>
                <a:latin typeface="Times New Roman"/>
              </a:rPr>
              <a:t>Tracking</a:t>
            </a:r>
            <a:r>
              <a:rPr lang="en-US" sz="1700" spc="-1" dirty="0">
                <a:uFill>
                  <a:solidFill>
                    <a:srgbClr val="FFFFFF"/>
                  </a:solidFill>
                </a:uFill>
                <a:latin typeface="Times New Roman"/>
              </a:rPr>
              <a:t>, </a:t>
            </a:r>
            <a:r>
              <a:rPr lang="en-US" sz="1700" b="1" spc="-1" dirty="0">
                <a:uFill>
                  <a:solidFill>
                    <a:srgbClr val="FFFFFF"/>
                  </a:solidFill>
                </a:uFill>
                <a:latin typeface="Times New Roman"/>
              </a:rPr>
              <a:t>Mapping</a:t>
            </a:r>
            <a:r>
              <a:rPr lang="en-US" sz="1700" spc="-1" dirty="0">
                <a:uFill>
                  <a:solidFill>
                    <a:srgbClr val="FFFFFF"/>
                  </a:solidFill>
                </a:uFill>
                <a:latin typeface="Times New Roman"/>
              </a:rPr>
              <a:t>, </a:t>
            </a:r>
            <a:r>
              <a:rPr lang="en-US" sz="1700" b="1" spc="-1" dirty="0">
                <a:uFill>
                  <a:solidFill>
                    <a:srgbClr val="FFFFFF"/>
                  </a:solidFill>
                </a:uFill>
                <a:latin typeface="Times New Roman"/>
              </a:rPr>
              <a:t>Loop Closing</a:t>
            </a:r>
            <a:r>
              <a:rPr lang="en-US" sz="1700" spc="-1" dirty="0">
                <a:uFill>
                  <a:solidFill>
                    <a:srgbClr val="FFFFFF"/>
                  </a:solidFill>
                </a:uFill>
                <a:latin typeface="Times New Roman"/>
              </a:rPr>
              <a:t>.</a:t>
            </a:r>
          </a:p>
          <a:p>
            <a:pPr marL="285840" indent="-228240">
              <a:lnSpc>
                <a:spcPct val="90000"/>
              </a:lnSpc>
              <a:buClr>
                <a:srgbClr val="00B050"/>
              </a:buClr>
              <a:buFont typeface="Arial"/>
              <a:buChar char="•"/>
            </a:pPr>
            <a:r>
              <a:rPr lang="en-US" sz="1700" spc="-1" dirty="0">
                <a:uFill>
                  <a:solidFill>
                    <a:srgbClr val="FFFFFF"/>
                  </a:solidFill>
                </a:uFill>
                <a:latin typeface="Times New Roman"/>
              </a:rPr>
              <a:t>The system is designed for real-time SLAM: </a:t>
            </a:r>
            <a:endParaRPr lang="en-US" sz="1300" spc="-1" dirty="0">
              <a:uFill>
                <a:solidFill>
                  <a:srgbClr val="FFFFFF"/>
                </a:solidFill>
              </a:uFill>
              <a:latin typeface="Times New Roman"/>
            </a:endParaRPr>
          </a:p>
          <a:p>
            <a:pPr marL="561960" lvl="1" indent="-228240">
              <a:lnSpc>
                <a:spcPct val="90000"/>
              </a:lnSpc>
              <a:buClr>
                <a:srgbClr val="00B050"/>
              </a:buClr>
              <a:buFont typeface="Arial"/>
              <a:buChar char="•"/>
            </a:pPr>
            <a:r>
              <a:rPr lang="en-US" sz="1700" spc="-1" dirty="0">
                <a:uFill>
                  <a:solidFill>
                    <a:srgbClr val="FFFFFF"/>
                  </a:solidFill>
                </a:uFill>
                <a:latin typeface="Times New Roman"/>
              </a:rPr>
              <a:t>only ‘interesting’ frames ,which will be called keyframes, are processed.</a:t>
            </a:r>
          </a:p>
          <a:p>
            <a:pPr marL="561960" lvl="1" indent="-228240">
              <a:lnSpc>
                <a:spcPct val="90000"/>
              </a:lnSpc>
              <a:buClr>
                <a:srgbClr val="00B050"/>
              </a:buClr>
              <a:buFont typeface="Arial"/>
              <a:buChar char="•"/>
            </a:pPr>
            <a:r>
              <a:rPr lang="en-US" sz="1700" spc="-1" dirty="0">
                <a:uFill>
                  <a:solidFill>
                    <a:srgbClr val="FFFFFF"/>
                  </a:solidFill>
                </a:uFill>
                <a:latin typeface="Times New Roman"/>
              </a:rPr>
              <a:t>uses ORB features which are very fast to compute.</a:t>
            </a:r>
          </a:p>
          <a:p>
            <a:pPr marL="561960" lvl="1" indent="-228240">
              <a:lnSpc>
                <a:spcPct val="90000"/>
              </a:lnSpc>
              <a:buClr>
                <a:srgbClr val="00B050"/>
              </a:buClr>
              <a:buFont typeface="Arial"/>
              <a:buChar char="•"/>
            </a:pPr>
            <a:r>
              <a:rPr lang="en-US" sz="1700" spc="-1" dirty="0">
                <a:uFill>
                  <a:solidFill>
                    <a:srgbClr val="FFFFFF"/>
                  </a:solidFill>
                </a:uFill>
                <a:latin typeface="Times New Roman"/>
              </a:rPr>
              <a:t>deciding where to put a new keyframe in the map is made by looking only on neighbor keyframes.</a:t>
            </a:r>
          </a:p>
          <a:p>
            <a:pPr marL="285840" indent="-228240">
              <a:lnSpc>
                <a:spcPct val="90000"/>
              </a:lnSpc>
              <a:buClr>
                <a:srgbClr val="00B050"/>
              </a:buClr>
              <a:buFont typeface="Arial"/>
              <a:buChar char="•"/>
            </a:pPr>
            <a:r>
              <a:rPr lang="en-US" sz="1700" spc="-1" dirty="0">
                <a:uFill>
                  <a:solidFill>
                    <a:srgbClr val="FFFFFF"/>
                  </a:solidFill>
                </a:uFill>
                <a:latin typeface="Times New Roman"/>
              </a:rPr>
              <a:t>Loop Closing is made on global scale which make ORB-SLAM work in large scenes.</a:t>
            </a:r>
          </a:p>
        </p:txBody>
      </p:sp>
      <p:pic>
        <p:nvPicPr>
          <p:cNvPr id="11" name="Picture Placeholder 9">
            <a:extLst>
              <a:ext uri="{FF2B5EF4-FFF2-40B4-BE49-F238E27FC236}">
                <a16:creationId xmlns:a16="http://schemas.microsoft.com/office/drawing/2014/main" id="{7E37A530-B075-4CD9-AAEC-48F332975120}"/>
              </a:ext>
            </a:extLst>
          </p:cNvPr>
          <p:cNvPicPr/>
          <p:nvPr/>
        </p:nvPicPr>
        <p:blipFill rotWithShape="1">
          <a:blip r:embed="rId2"/>
          <a:srcRect t="4369" r="1" b="7750"/>
          <a:stretch/>
        </p:blipFill>
        <p:spPr>
          <a:xfrm>
            <a:off x="5120640" y="1904281"/>
            <a:ext cx="6233160" cy="4272681"/>
          </a:xfrm>
          <a:prstGeom prst="rect">
            <a:avLst/>
          </a:prstGeom>
        </p:spPr>
      </p:pic>
      <p:sp>
        <p:nvSpPr>
          <p:cNvPr id="4" name="Slide Number Placeholder 3">
            <a:extLst>
              <a:ext uri="{FF2B5EF4-FFF2-40B4-BE49-F238E27FC236}">
                <a16:creationId xmlns:a16="http://schemas.microsoft.com/office/drawing/2014/main" id="{6EBEF70D-7F4C-4E50-A71D-4986B5278E99}"/>
              </a:ext>
            </a:extLst>
          </p:cNvPr>
          <p:cNvSpPr>
            <a:spLocks noGrp="1"/>
          </p:cNvSpPr>
          <p:nvPr>
            <p:ph type="sldNum" sz="quarter" idx="12"/>
          </p:nvPr>
        </p:nvSpPr>
        <p:spPr>
          <a:xfrm>
            <a:off x="8610600" y="6356350"/>
            <a:ext cx="2743200" cy="365125"/>
          </a:xfrm>
        </p:spPr>
        <p:txBody>
          <a:bodyPr>
            <a:normAutofit/>
          </a:bodyPr>
          <a:lstStyle/>
          <a:p>
            <a:pPr>
              <a:spcAft>
                <a:spcPts val="600"/>
              </a:spcAft>
            </a:pPr>
            <a:fld id="{B01D9778-10B4-40FB-B4E4-44FA89A86639}" type="slidenum">
              <a:rPr lang="en-US" smtClean="0"/>
              <a:pPr>
                <a:spcAft>
                  <a:spcPts val="600"/>
                </a:spcAft>
              </a:pPr>
              <a:t>10</a:t>
            </a:fld>
            <a:endParaRPr lang="en-US"/>
          </a:p>
        </p:txBody>
      </p:sp>
    </p:spTree>
    <p:extLst>
      <p:ext uri="{BB962C8B-B14F-4D97-AF65-F5344CB8AC3E}">
        <p14:creationId xmlns:p14="http://schemas.microsoft.com/office/powerpoint/2010/main" val="1367243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0BC9E-5B6A-4479-B5BF-A632D52DCC0D}"/>
              </a:ext>
            </a:extLst>
          </p:cNvPr>
          <p:cNvSpPr>
            <a:spLocks noGrp="1"/>
          </p:cNvSpPr>
          <p:nvPr>
            <p:ph type="title"/>
          </p:nvPr>
        </p:nvSpPr>
        <p:spPr>
          <a:xfrm>
            <a:off x="838200" y="365125"/>
            <a:ext cx="10515600" cy="1325563"/>
          </a:xfrm>
        </p:spPr>
        <p:txBody>
          <a:bodyPr>
            <a:normAutofit/>
          </a:bodyPr>
          <a:lstStyle/>
          <a:p>
            <a:r>
              <a:rPr lang="en-US" dirty="0"/>
              <a:t>Tracking</a:t>
            </a:r>
            <a:endParaRPr lang="en-IL" dirty="0"/>
          </a:p>
        </p:txBody>
      </p:sp>
      <p:sp>
        <p:nvSpPr>
          <p:cNvPr id="3" name="Content Placeholder 2">
            <a:extLst>
              <a:ext uri="{FF2B5EF4-FFF2-40B4-BE49-F238E27FC236}">
                <a16:creationId xmlns:a16="http://schemas.microsoft.com/office/drawing/2014/main" id="{B1A57B9A-9EEC-4551-8986-D2C30FCB0DE0}"/>
              </a:ext>
            </a:extLst>
          </p:cNvPr>
          <p:cNvSpPr>
            <a:spLocks noGrp="1"/>
          </p:cNvSpPr>
          <p:nvPr>
            <p:ph idx="1"/>
          </p:nvPr>
        </p:nvSpPr>
        <p:spPr>
          <a:xfrm>
            <a:off x="838200" y="1825625"/>
            <a:ext cx="5015484" cy="4351338"/>
          </a:xfrm>
        </p:spPr>
        <p:txBody>
          <a:bodyPr>
            <a:normAutofit/>
          </a:bodyPr>
          <a:lstStyle/>
          <a:p>
            <a:pPr marL="285840" indent="-228240">
              <a:buClr>
                <a:srgbClr val="00B050"/>
              </a:buClr>
              <a:buFont typeface="Arial"/>
              <a:buChar char="•"/>
            </a:pPr>
            <a:r>
              <a:rPr lang="en-US" sz="2000" spc="-1" dirty="0">
                <a:uFill>
                  <a:solidFill>
                    <a:srgbClr val="FFFFFF"/>
                  </a:solidFill>
                </a:uFill>
                <a:latin typeface="Times New Roman"/>
              </a:rPr>
              <a:t>Projects the map into the current image and searches for correspondences between ‘interesting’ points in the image and map points.</a:t>
            </a:r>
          </a:p>
          <a:p>
            <a:pPr marL="285840" indent="-228240">
              <a:buClr>
                <a:srgbClr val="00B050"/>
              </a:buClr>
              <a:buFont typeface="Arial"/>
              <a:buChar char="•"/>
            </a:pPr>
            <a:r>
              <a:rPr lang="en-US" sz="2000" spc="-1" dirty="0">
                <a:uFill>
                  <a:solidFill>
                    <a:srgbClr val="FFFFFF"/>
                  </a:solidFill>
                </a:uFill>
                <a:latin typeface="Times New Roman"/>
              </a:rPr>
              <a:t>To make it fast it projects only a ‘local map’- only map points that appear also in neighbor keyframes.</a:t>
            </a:r>
          </a:p>
          <a:p>
            <a:pPr marL="285840" indent="-228240">
              <a:buClr>
                <a:srgbClr val="00B050"/>
              </a:buClr>
              <a:buFont typeface="Arial"/>
              <a:buChar char="•"/>
            </a:pPr>
            <a:r>
              <a:rPr lang="en-US" sz="2000" spc="-1" dirty="0">
                <a:uFill>
                  <a:solidFill>
                    <a:srgbClr val="FFFFFF"/>
                  </a:solidFill>
                </a:uFill>
                <a:latin typeface="Times New Roman"/>
              </a:rPr>
              <a:t>Estimates the neighbor keyframes with constant velocity model from the last keyframe.</a:t>
            </a:r>
          </a:p>
        </p:txBody>
      </p:sp>
      <p:pic>
        <p:nvPicPr>
          <p:cNvPr id="6" name="Picture 5">
            <a:extLst>
              <a:ext uri="{FF2B5EF4-FFF2-40B4-BE49-F238E27FC236}">
                <a16:creationId xmlns:a16="http://schemas.microsoft.com/office/drawing/2014/main" id="{3FFB5AEC-7902-4B16-854E-DF9BFA3AE6A0}"/>
              </a:ext>
            </a:extLst>
          </p:cNvPr>
          <p:cNvPicPr>
            <a:picLocks noChangeAspect="1"/>
          </p:cNvPicPr>
          <p:nvPr/>
        </p:nvPicPr>
        <p:blipFill rotWithShape="1">
          <a:blip r:embed="rId2"/>
          <a:srcRect l="12120" r="2" b="2"/>
          <a:stretch/>
        </p:blipFill>
        <p:spPr>
          <a:xfrm>
            <a:off x="6338316" y="1904281"/>
            <a:ext cx="5074070" cy="4272681"/>
          </a:xfrm>
          <a:prstGeom prst="rect">
            <a:avLst/>
          </a:prstGeom>
        </p:spPr>
      </p:pic>
      <p:sp>
        <p:nvSpPr>
          <p:cNvPr id="4" name="Slide Number Placeholder 3">
            <a:extLst>
              <a:ext uri="{FF2B5EF4-FFF2-40B4-BE49-F238E27FC236}">
                <a16:creationId xmlns:a16="http://schemas.microsoft.com/office/drawing/2014/main" id="{426C1D7D-D594-4428-9C4B-C5827A420133}"/>
              </a:ext>
            </a:extLst>
          </p:cNvPr>
          <p:cNvSpPr>
            <a:spLocks noGrp="1"/>
          </p:cNvSpPr>
          <p:nvPr>
            <p:ph type="sldNum" sz="quarter" idx="12"/>
          </p:nvPr>
        </p:nvSpPr>
        <p:spPr>
          <a:xfrm>
            <a:off x="8610600" y="6356350"/>
            <a:ext cx="2743200" cy="365125"/>
          </a:xfrm>
        </p:spPr>
        <p:txBody>
          <a:bodyPr>
            <a:normAutofit/>
          </a:bodyPr>
          <a:lstStyle/>
          <a:p>
            <a:pPr>
              <a:spcAft>
                <a:spcPts val="600"/>
              </a:spcAft>
            </a:pPr>
            <a:fld id="{B01D9778-10B4-40FB-B4E4-44FA89A86639}" type="slidenum">
              <a:rPr lang="en-US" smtClean="0"/>
              <a:pPr>
                <a:spcAft>
                  <a:spcPts val="600"/>
                </a:spcAft>
              </a:pPr>
              <a:t>11</a:t>
            </a:fld>
            <a:endParaRPr lang="en-US"/>
          </a:p>
        </p:txBody>
      </p:sp>
    </p:spTree>
    <p:extLst>
      <p:ext uri="{BB962C8B-B14F-4D97-AF65-F5344CB8AC3E}">
        <p14:creationId xmlns:p14="http://schemas.microsoft.com/office/powerpoint/2010/main" val="2775609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1084A-F52B-4C04-943B-5735E4D29A9D}"/>
              </a:ext>
            </a:extLst>
          </p:cNvPr>
          <p:cNvSpPr>
            <a:spLocks noGrp="1"/>
          </p:cNvSpPr>
          <p:nvPr>
            <p:ph type="title"/>
          </p:nvPr>
        </p:nvSpPr>
        <p:spPr>
          <a:xfrm>
            <a:off x="838200" y="365125"/>
            <a:ext cx="10515600" cy="1325563"/>
          </a:xfrm>
        </p:spPr>
        <p:txBody>
          <a:bodyPr>
            <a:normAutofit/>
          </a:bodyPr>
          <a:lstStyle/>
          <a:p>
            <a:r>
              <a:rPr lang="en-US" dirty="0"/>
              <a:t>Local Mapping</a:t>
            </a:r>
            <a:endParaRPr lang="en-IL" dirty="0"/>
          </a:p>
        </p:txBody>
      </p:sp>
      <p:sp>
        <p:nvSpPr>
          <p:cNvPr id="3" name="Content Placeholder 2">
            <a:extLst>
              <a:ext uri="{FF2B5EF4-FFF2-40B4-BE49-F238E27FC236}">
                <a16:creationId xmlns:a16="http://schemas.microsoft.com/office/drawing/2014/main" id="{882F1B8B-5FAF-4D96-A8C6-DA3EFFFF0EEF}"/>
              </a:ext>
            </a:extLst>
          </p:cNvPr>
          <p:cNvSpPr>
            <a:spLocks noGrp="1"/>
          </p:cNvSpPr>
          <p:nvPr>
            <p:ph idx="1"/>
          </p:nvPr>
        </p:nvSpPr>
        <p:spPr>
          <a:xfrm>
            <a:off x="838200" y="1825625"/>
            <a:ext cx="5015484" cy="4351338"/>
          </a:xfrm>
        </p:spPr>
        <p:txBody>
          <a:bodyPr>
            <a:normAutofit/>
          </a:bodyPr>
          <a:lstStyle/>
          <a:p>
            <a:pPr marL="285840" indent="-228240">
              <a:buClr>
                <a:srgbClr val="00B050"/>
              </a:buClr>
              <a:buFont typeface="Arial"/>
              <a:buChar char="•"/>
            </a:pPr>
            <a:r>
              <a:rPr lang="en-US" sz="2000" spc="-1" dirty="0">
                <a:uFill>
                  <a:solidFill>
                    <a:srgbClr val="FFFFFF"/>
                  </a:solidFill>
                </a:uFill>
                <a:latin typeface="Times New Roman"/>
              </a:rPr>
              <a:t>Optimizes the actual location of the current keyframe using a method called Bundle Adjustments, using estimated neighbor keyframes.</a:t>
            </a:r>
          </a:p>
          <a:p>
            <a:pPr marL="285840" indent="-228240">
              <a:buClr>
                <a:srgbClr val="00B050"/>
              </a:buClr>
              <a:buFont typeface="Arial"/>
              <a:buChar char="•"/>
            </a:pPr>
            <a:r>
              <a:rPr lang="en-US" sz="2000" spc="-1" dirty="0">
                <a:uFill>
                  <a:solidFill>
                    <a:srgbClr val="FFFFFF"/>
                  </a:solidFill>
                </a:uFill>
                <a:latin typeface="Times New Roman"/>
              </a:rPr>
              <a:t>Calculate bag of words for the new keyframe – a way to lower the dimensionality of a frame, will help later with Loop Closing.</a:t>
            </a:r>
          </a:p>
          <a:p>
            <a:pPr marL="285840" indent="-228240">
              <a:buClr>
                <a:srgbClr val="00B050"/>
              </a:buClr>
              <a:buFont typeface="Arial"/>
              <a:buChar char="•"/>
            </a:pPr>
            <a:r>
              <a:rPr lang="en-US" sz="2000" spc="-1" dirty="0">
                <a:uFill>
                  <a:solidFill>
                    <a:srgbClr val="FFFFFF"/>
                  </a:solidFill>
                </a:uFill>
                <a:latin typeface="Times New Roman"/>
              </a:rPr>
              <a:t>Add new map points to the map from new keyframes.</a:t>
            </a:r>
          </a:p>
          <a:p>
            <a:pPr marL="285840" indent="-228240">
              <a:buClr>
                <a:srgbClr val="00B050"/>
              </a:buClr>
              <a:buFont typeface="Arial"/>
              <a:buChar char="•"/>
            </a:pPr>
            <a:r>
              <a:rPr lang="en-US" sz="2000" spc="-1" dirty="0">
                <a:uFill>
                  <a:solidFill>
                    <a:srgbClr val="FFFFFF"/>
                  </a:solidFill>
                </a:uFill>
                <a:latin typeface="Times New Roman"/>
              </a:rPr>
              <a:t>Removes redundant keyframes and map points, for better </a:t>
            </a:r>
            <a:r>
              <a:rPr lang="en-US" sz="2000" spc="-1" dirty="0" err="1">
                <a:uFill>
                  <a:solidFill>
                    <a:srgbClr val="FFFFFF"/>
                  </a:solidFill>
                </a:uFill>
                <a:latin typeface="Times New Roman"/>
              </a:rPr>
              <a:t>scalabilty</a:t>
            </a:r>
            <a:r>
              <a:rPr lang="en-US" sz="2000" spc="-1" dirty="0">
                <a:uFill>
                  <a:solidFill>
                    <a:srgbClr val="FFFFFF"/>
                  </a:solidFill>
                </a:uFill>
                <a:latin typeface="Times New Roman"/>
              </a:rPr>
              <a:t>.</a:t>
            </a:r>
          </a:p>
        </p:txBody>
      </p:sp>
      <p:pic>
        <p:nvPicPr>
          <p:cNvPr id="5" name="Picture Placeholder 13">
            <a:extLst>
              <a:ext uri="{FF2B5EF4-FFF2-40B4-BE49-F238E27FC236}">
                <a16:creationId xmlns:a16="http://schemas.microsoft.com/office/drawing/2014/main" id="{2FC21763-D54B-4EEE-8552-908F0711E675}"/>
              </a:ext>
            </a:extLst>
          </p:cNvPr>
          <p:cNvPicPr/>
          <p:nvPr/>
        </p:nvPicPr>
        <p:blipFill rotWithShape="1">
          <a:blip r:embed="rId2"/>
          <a:srcRect l="2685" r="3197" b="-4"/>
          <a:stretch/>
        </p:blipFill>
        <p:spPr>
          <a:xfrm>
            <a:off x="6338160" y="1904400"/>
            <a:ext cx="5073840" cy="4272480"/>
          </a:xfrm>
          <a:prstGeom prst="rect">
            <a:avLst/>
          </a:prstGeom>
        </p:spPr>
      </p:pic>
      <p:sp>
        <p:nvSpPr>
          <p:cNvPr id="4" name="Slide Number Placeholder 3">
            <a:extLst>
              <a:ext uri="{FF2B5EF4-FFF2-40B4-BE49-F238E27FC236}">
                <a16:creationId xmlns:a16="http://schemas.microsoft.com/office/drawing/2014/main" id="{A06F2C64-DC66-43DA-9AA2-DC5E3DBFC82D}"/>
              </a:ext>
            </a:extLst>
          </p:cNvPr>
          <p:cNvSpPr>
            <a:spLocks noGrp="1"/>
          </p:cNvSpPr>
          <p:nvPr>
            <p:ph type="sldNum" sz="quarter" idx="12"/>
          </p:nvPr>
        </p:nvSpPr>
        <p:spPr>
          <a:xfrm>
            <a:off x="8610600" y="6356350"/>
            <a:ext cx="2743200" cy="365125"/>
          </a:xfrm>
        </p:spPr>
        <p:txBody>
          <a:bodyPr>
            <a:normAutofit/>
          </a:bodyPr>
          <a:lstStyle/>
          <a:p>
            <a:pPr>
              <a:spcAft>
                <a:spcPts val="600"/>
              </a:spcAft>
            </a:pPr>
            <a:fld id="{B01D9778-10B4-40FB-B4E4-44FA89A86639}" type="slidenum">
              <a:rPr lang="en-US" smtClean="0"/>
              <a:pPr>
                <a:spcAft>
                  <a:spcPts val="600"/>
                </a:spcAft>
              </a:pPr>
              <a:t>12</a:t>
            </a:fld>
            <a:endParaRPr lang="en-US" dirty="0"/>
          </a:p>
        </p:txBody>
      </p:sp>
    </p:spTree>
    <p:extLst>
      <p:ext uri="{BB962C8B-B14F-4D97-AF65-F5344CB8AC3E}">
        <p14:creationId xmlns:p14="http://schemas.microsoft.com/office/powerpoint/2010/main" val="1942752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1B224-60A0-4CA2-8C65-E0E670207E0B}"/>
              </a:ext>
            </a:extLst>
          </p:cNvPr>
          <p:cNvSpPr>
            <a:spLocks noGrp="1"/>
          </p:cNvSpPr>
          <p:nvPr>
            <p:ph type="title"/>
          </p:nvPr>
        </p:nvSpPr>
        <p:spPr>
          <a:xfrm>
            <a:off x="838200" y="365125"/>
            <a:ext cx="10515600" cy="1325563"/>
          </a:xfrm>
        </p:spPr>
        <p:txBody>
          <a:bodyPr>
            <a:normAutofit/>
          </a:bodyPr>
          <a:lstStyle/>
          <a:p>
            <a:r>
              <a:rPr lang="en-US" dirty="0"/>
              <a:t>Loop Closing</a:t>
            </a:r>
            <a:endParaRPr lang="en-IL" dirty="0"/>
          </a:p>
        </p:txBody>
      </p:sp>
      <p:sp>
        <p:nvSpPr>
          <p:cNvPr id="3" name="Content Placeholder 2">
            <a:extLst>
              <a:ext uri="{FF2B5EF4-FFF2-40B4-BE49-F238E27FC236}">
                <a16:creationId xmlns:a16="http://schemas.microsoft.com/office/drawing/2014/main" id="{DB465C9B-9F46-489C-8938-B7150775F45B}"/>
              </a:ext>
            </a:extLst>
          </p:cNvPr>
          <p:cNvSpPr>
            <a:spLocks noGrp="1"/>
          </p:cNvSpPr>
          <p:nvPr>
            <p:ph idx="1"/>
          </p:nvPr>
        </p:nvSpPr>
        <p:spPr>
          <a:xfrm>
            <a:off x="838200" y="1825625"/>
            <a:ext cx="4648200" cy="4351338"/>
          </a:xfrm>
        </p:spPr>
        <p:txBody>
          <a:bodyPr>
            <a:normAutofit/>
          </a:bodyPr>
          <a:lstStyle/>
          <a:p>
            <a:pPr marL="285840" indent="-228240">
              <a:buClr>
                <a:srgbClr val="00B050"/>
              </a:buClr>
              <a:buFont typeface="Arial"/>
              <a:buChar char="•"/>
            </a:pPr>
            <a:r>
              <a:rPr lang="en-US" sz="2000" spc="-1" dirty="0">
                <a:uFill>
                  <a:solidFill>
                    <a:srgbClr val="FFFFFF"/>
                  </a:solidFill>
                </a:uFill>
                <a:latin typeface="Times New Roman"/>
              </a:rPr>
              <a:t>With every new keyframe a comparison of bag of words with every other keyframe is made to decide of a loop closure had happened.</a:t>
            </a:r>
          </a:p>
          <a:p>
            <a:pPr marL="285840" indent="-228240">
              <a:buClr>
                <a:srgbClr val="00B050"/>
              </a:buClr>
              <a:buFont typeface="Arial"/>
              <a:buChar char="•"/>
            </a:pPr>
            <a:r>
              <a:rPr lang="en-US" sz="2000" spc="-1" dirty="0">
                <a:uFill>
                  <a:solidFill>
                    <a:srgbClr val="FFFFFF"/>
                  </a:solidFill>
                </a:uFill>
                <a:latin typeface="Times New Roman"/>
              </a:rPr>
              <a:t>Closes a loop if 3 connected keyframes is a loop closure candidates and transformation matrix exists (using RANSAC).</a:t>
            </a:r>
          </a:p>
          <a:p>
            <a:pPr marL="285840" indent="-228240">
              <a:buClr>
                <a:srgbClr val="00B050"/>
              </a:buClr>
              <a:buFont typeface="Arial"/>
              <a:buChar char="•"/>
            </a:pPr>
            <a:r>
              <a:rPr lang="en-US" sz="2000" spc="-1" dirty="0">
                <a:uFill>
                  <a:solidFill>
                    <a:srgbClr val="FFFFFF"/>
                  </a:solidFill>
                </a:uFill>
                <a:latin typeface="Times New Roman"/>
              </a:rPr>
              <a:t>The loop closes while the other threads continue to work.</a:t>
            </a:r>
          </a:p>
          <a:p>
            <a:endParaRPr lang="en-IL" sz="2000" dirty="0"/>
          </a:p>
        </p:txBody>
      </p:sp>
      <p:pic>
        <p:nvPicPr>
          <p:cNvPr id="5" name="Picture Placeholder 5">
            <a:extLst>
              <a:ext uri="{FF2B5EF4-FFF2-40B4-BE49-F238E27FC236}">
                <a16:creationId xmlns:a16="http://schemas.microsoft.com/office/drawing/2014/main" id="{19BF7F29-4258-4F81-B48E-3FB139C2A912}"/>
              </a:ext>
            </a:extLst>
          </p:cNvPr>
          <p:cNvPicPr/>
          <p:nvPr/>
        </p:nvPicPr>
        <p:blipFill rotWithShape="1">
          <a:blip r:embed="rId2"/>
          <a:srcRect l="269" r="3080" b="-2"/>
          <a:stretch/>
        </p:blipFill>
        <p:spPr>
          <a:xfrm>
            <a:off x="5867400" y="1904400"/>
            <a:ext cx="5485920" cy="4272480"/>
          </a:xfrm>
          <a:prstGeom prst="rect">
            <a:avLst/>
          </a:prstGeom>
        </p:spPr>
      </p:pic>
      <p:sp>
        <p:nvSpPr>
          <p:cNvPr id="4" name="Slide Number Placeholder 3">
            <a:extLst>
              <a:ext uri="{FF2B5EF4-FFF2-40B4-BE49-F238E27FC236}">
                <a16:creationId xmlns:a16="http://schemas.microsoft.com/office/drawing/2014/main" id="{BCC2D62B-5E73-4E43-9D6F-37BAB01A4061}"/>
              </a:ext>
            </a:extLst>
          </p:cNvPr>
          <p:cNvSpPr>
            <a:spLocks noGrp="1"/>
          </p:cNvSpPr>
          <p:nvPr>
            <p:ph type="sldNum" sz="quarter" idx="12"/>
          </p:nvPr>
        </p:nvSpPr>
        <p:spPr>
          <a:xfrm>
            <a:off x="8610600" y="6356350"/>
            <a:ext cx="2743200" cy="365125"/>
          </a:xfrm>
        </p:spPr>
        <p:txBody>
          <a:bodyPr>
            <a:normAutofit/>
          </a:bodyPr>
          <a:lstStyle/>
          <a:p>
            <a:pPr>
              <a:spcAft>
                <a:spcPts val="600"/>
              </a:spcAft>
            </a:pPr>
            <a:fld id="{B01D9778-10B4-40FB-B4E4-44FA89A86639}" type="slidenum">
              <a:rPr lang="en-US" smtClean="0"/>
              <a:pPr>
                <a:spcAft>
                  <a:spcPts val="600"/>
                </a:spcAft>
              </a:pPr>
              <a:t>13</a:t>
            </a:fld>
            <a:endParaRPr lang="en-US"/>
          </a:p>
        </p:txBody>
      </p:sp>
    </p:spTree>
    <p:extLst>
      <p:ext uri="{BB962C8B-B14F-4D97-AF65-F5344CB8AC3E}">
        <p14:creationId xmlns:p14="http://schemas.microsoft.com/office/powerpoint/2010/main" val="2525352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F9E59-6D95-4E7A-B607-F227BB451561}"/>
              </a:ext>
            </a:extLst>
          </p:cNvPr>
          <p:cNvSpPr>
            <a:spLocks noGrp="1"/>
          </p:cNvSpPr>
          <p:nvPr>
            <p:ph type="title"/>
          </p:nvPr>
        </p:nvSpPr>
        <p:spPr/>
        <p:txBody>
          <a:bodyPr/>
          <a:lstStyle/>
          <a:p>
            <a:r>
              <a:rPr lang="en-US" dirty="0"/>
              <a:t>Classification</a:t>
            </a:r>
            <a:endParaRPr lang="en-IL" dirty="0"/>
          </a:p>
        </p:txBody>
      </p:sp>
      <p:sp>
        <p:nvSpPr>
          <p:cNvPr id="3" name="Content Placeholder 2">
            <a:extLst>
              <a:ext uri="{FF2B5EF4-FFF2-40B4-BE49-F238E27FC236}">
                <a16:creationId xmlns:a16="http://schemas.microsoft.com/office/drawing/2014/main" id="{ABF9FE5F-DAF5-42F9-B9B4-CAADFA4453A7}"/>
              </a:ext>
            </a:extLst>
          </p:cNvPr>
          <p:cNvSpPr>
            <a:spLocks noGrp="1"/>
          </p:cNvSpPr>
          <p:nvPr>
            <p:ph idx="1"/>
          </p:nvPr>
        </p:nvSpPr>
        <p:spPr/>
        <p:txBody>
          <a:bodyPr/>
          <a:lstStyle/>
          <a:p>
            <a:r>
              <a:rPr lang="en-US" dirty="0"/>
              <a:t>We have 2 types of certifies cones: Blue and Yellow.</a:t>
            </a:r>
          </a:p>
          <a:p>
            <a:endParaRPr lang="en-US" dirty="0"/>
          </a:p>
          <a:p>
            <a:r>
              <a:rPr lang="en-US" dirty="0"/>
              <a:t>Decide if a set of pixels is Blue cone, Yellow cone or none.</a:t>
            </a:r>
          </a:p>
          <a:p>
            <a:r>
              <a:rPr lang="en-US" dirty="0"/>
              <a:t>We will use YOLO (You Only Look Once) which is a CNN (Convolutional Neural Network) that classify in real time.</a:t>
            </a:r>
          </a:p>
        </p:txBody>
      </p:sp>
      <p:sp>
        <p:nvSpPr>
          <p:cNvPr id="4" name="Slide Number Placeholder 3">
            <a:extLst>
              <a:ext uri="{FF2B5EF4-FFF2-40B4-BE49-F238E27FC236}">
                <a16:creationId xmlns:a16="http://schemas.microsoft.com/office/drawing/2014/main" id="{F290D78C-A478-4D3A-A5AD-23214849214E}"/>
              </a:ext>
            </a:extLst>
          </p:cNvPr>
          <p:cNvSpPr>
            <a:spLocks noGrp="1"/>
          </p:cNvSpPr>
          <p:nvPr>
            <p:ph type="sldNum" sz="quarter" idx="12"/>
          </p:nvPr>
        </p:nvSpPr>
        <p:spPr/>
        <p:txBody>
          <a:bodyPr/>
          <a:lstStyle/>
          <a:p>
            <a:fld id="{B01D9778-10B4-40FB-B4E4-44FA89A86639}" type="slidenum">
              <a:rPr lang="en-US" smtClean="0"/>
              <a:pPr/>
              <a:t>14</a:t>
            </a:fld>
            <a:endParaRPr lang="en-US"/>
          </a:p>
        </p:txBody>
      </p:sp>
      <p:pic>
        <p:nvPicPr>
          <p:cNvPr id="7" name="Picture 6">
            <a:extLst>
              <a:ext uri="{FF2B5EF4-FFF2-40B4-BE49-F238E27FC236}">
                <a16:creationId xmlns:a16="http://schemas.microsoft.com/office/drawing/2014/main" id="{2E23EA5D-EC93-4ECC-96AA-773296507E7A}"/>
              </a:ext>
            </a:extLst>
          </p:cNvPr>
          <p:cNvPicPr>
            <a:picLocks noChangeAspect="1"/>
          </p:cNvPicPr>
          <p:nvPr/>
        </p:nvPicPr>
        <p:blipFill>
          <a:blip r:embed="rId2"/>
          <a:stretch>
            <a:fillRect/>
          </a:stretch>
        </p:blipFill>
        <p:spPr>
          <a:xfrm>
            <a:off x="9601200" y="1524000"/>
            <a:ext cx="1981200" cy="1161907"/>
          </a:xfrm>
          <a:prstGeom prst="rect">
            <a:avLst/>
          </a:prstGeom>
        </p:spPr>
      </p:pic>
    </p:spTree>
    <p:extLst>
      <p:ext uri="{BB962C8B-B14F-4D97-AF65-F5344CB8AC3E}">
        <p14:creationId xmlns:p14="http://schemas.microsoft.com/office/powerpoint/2010/main" val="885723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887E9-41E6-42AD-AB48-A678FFE90EB6}"/>
              </a:ext>
            </a:extLst>
          </p:cNvPr>
          <p:cNvSpPr>
            <a:spLocks noGrp="1"/>
          </p:cNvSpPr>
          <p:nvPr>
            <p:ph type="title"/>
          </p:nvPr>
        </p:nvSpPr>
        <p:spPr/>
        <p:txBody>
          <a:bodyPr/>
          <a:lstStyle/>
          <a:p>
            <a:r>
              <a:rPr lang="en-US" dirty="0"/>
              <a:t>CNN</a:t>
            </a:r>
            <a:endParaRPr lang="en-IL" dirty="0"/>
          </a:p>
        </p:txBody>
      </p:sp>
      <p:sp>
        <p:nvSpPr>
          <p:cNvPr id="3" name="Content Placeholder 2">
            <a:extLst>
              <a:ext uri="{FF2B5EF4-FFF2-40B4-BE49-F238E27FC236}">
                <a16:creationId xmlns:a16="http://schemas.microsoft.com/office/drawing/2014/main" id="{873AEF1A-0A47-4F41-B674-322519084170}"/>
              </a:ext>
            </a:extLst>
          </p:cNvPr>
          <p:cNvSpPr>
            <a:spLocks noGrp="1"/>
          </p:cNvSpPr>
          <p:nvPr>
            <p:ph idx="1"/>
          </p:nvPr>
        </p:nvSpPr>
        <p:spPr/>
        <p:txBody>
          <a:bodyPr/>
          <a:lstStyle/>
          <a:p>
            <a:r>
              <a:rPr lang="en-US" dirty="0"/>
              <a:t>Uses cross-correlation and not convolution.</a:t>
            </a:r>
          </a:p>
          <a:p>
            <a:r>
              <a:rPr lang="en-US" dirty="0"/>
              <a:t>Cross-correlates filters with image, the output is then inserted to neurons that apply some activation function (point wise). At every layer we make the output smaller (with pooling or bigger filter sizes) until the last layer has the size of the number of classes to classify, in our case 2, then classify the image as the max of the output of the last layers’ neurons.</a:t>
            </a:r>
            <a:endParaRPr lang="en-IL" dirty="0"/>
          </a:p>
        </p:txBody>
      </p:sp>
      <p:sp>
        <p:nvSpPr>
          <p:cNvPr id="4" name="Slide Number Placeholder 3">
            <a:extLst>
              <a:ext uri="{FF2B5EF4-FFF2-40B4-BE49-F238E27FC236}">
                <a16:creationId xmlns:a16="http://schemas.microsoft.com/office/drawing/2014/main" id="{44DA0237-06AB-46A4-B564-6E94F5B57D07}"/>
              </a:ext>
            </a:extLst>
          </p:cNvPr>
          <p:cNvSpPr>
            <a:spLocks noGrp="1"/>
          </p:cNvSpPr>
          <p:nvPr>
            <p:ph type="sldNum" sz="quarter" idx="12"/>
          </p:nvPr>
        </p:nvSpPr>
        <p:spPr/>
        <p:txBody>
          <a:bodyPr/>
          <a:lstStyle/>
          <a:p>
            <a:fld id="{B01D9778-10B4-40FB-B4E4-44FA89A86639}" type="slidenum">
              <a:rPr lang="en-US" smtClean="0"/>
              <a:pPr/>
              <a:t>15</a:t>
            </a:fld>
            <a:endParaRPr lang="en-US"/>
          </a:p>
        </p:txBody>
      </p:sp>
    </p:spTree>
    <p:extLst>
      <p:ext uri="{BB962C8B-B14F-4D97-AF65-F5344CB8AC3E}">
        <p14:creationId xmlns:p14="http://schemas.microsoft.com/office/powerpoint/2010/main" val="3335510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395E3-D4E3-4F88-A404-9FCA01BDDB99}"/>
              </a:ext>
            </a:extLst>
          </p:cNvPr>
          <p:cNvSpPr>
            <a:spLocks noGrp="1"/>
          </p:cNvSpPr>
          <p:nvPr>
            <p:ph type="title"/>
          </p:nvPr>
        </p:nvSpPr>
        <p:spPr>
          <a:xfrm>
            <a:off x="481013" y="327026"/>
            <a:ext cx="3290887" cy="2287588"/>
          </a:xfrm>
        </p:spPr>
        <p:txBody>
          <a:bodyPr anchor="ctr">
            <a:normAutofit/>
          </a:bodyPr>
          <a:lstStyle/>
          <a:p>
            <a:r>
              <a:rPr lang="en-US" sz="3600"/>
              <a:t>YOLO</a:t>
            </a:r>
            <a:endParaRPr lang="en-IL" sz="3600"/>
          </a:p>
        </p:txBody>
      </p:sp>
      <p:sp>
        <p:nvSpPr>
          <p:cNvPr id="3" name="Content Placeholder 2">
            <a:extLst>
              <a:ext uri="{FF2B5EF4-FFF2-40B4-BE49-F238E27FC236}">
                <a16:creationId xmlns:a16="http://schemas.microsoft.com/office/drawing/2014/main" id="{87BCD6E5-FF50-40A4-9F72-2C92F9A61D5C}"/>
              </a:ext>
            </a:extLst>
          </p:cNvPr>
          <p:cNvSpPr>
            <a:spLocks noGrp="1"/>
          </p:cNvSpPr>
          <p:nvPr>
            <p:ph idx="1"/>
          </p:nvPr>
        </p:nvSpPr>
        <p:spPr>
          <a:xfrm>
            <a:off x="4223982" y="327026"/>
            <a:ext cx="7485413" cy="2287587"/>
          </a:xfrm>
        </p:spPr>
        <p:txBody>
          <a:bodyPr anchor="ctr">
            <a:normAutofit/>
          </a:bodyPr>
          <a:lstStyle/>
          <a:p>
            <a:r>
              <a:rPr lang="en-US" sz="2000" dirty="0"/>
              <a:t>Creates a grid from the image, unlike other classification networks which search for possible object regions first, then classify each cell.</a:t>
            </a:r>
          </a:p>
          <a:p>
            <a:r>
              <a:rPr lang="en-US" sz="2000" dirty="0"/>
              <a:t>Trained on 1300 images which was hand labeled by the formula team.</a:t>
            </a:r>
          </a:p>
        </p:txBody>
      </p:sp>
      <p:pic>
        <p:nvPicPr>
          <p:cNvPr id="7" name="Picture 6">
            <a:extLst>
              <a:ext uri="{FF2B5EF4-FFF2-40B4-BE49-F238E27FC236}">
                <a16:creationId xmlns:a16="http://schemas.microsoft.com/office/drawing/2014/main" id="{99F150AE-6F66-46C6-92CC-A8D49AC55062}"/>
              </a:ext>
            </a:extLst>
          </p:cNvPr>
          <p:cNvPicPr>
            <a:picLocks noChangeAspect="1"/>
          </p:cNvPicPr>
          <p:nvPr/>
        </p:nvPicPr>
        <p:blipFill rotWithShape="1">
          <a:blip r:embed="rId3"/>
          <a:srcRect l="14302" r="1" b="1"/>
          <a:stretch/>
        </p:blipFill>
        <p:spPr>
          <a:xfrm>
            <a:off x="-9168" y="2763151"/>
            <a:ext cx="12201168" cy="4093262"/>
          </a:xfrm>
          <a:custGeom>
            <a:avLst/>
            <a:gdLst>
              <a:gd name="connsiteX0" fmla="*/ 12201168 w 12201168"/>
              <a:gd name="connsiteY0" fmla="*/ 0 h 4093262"/>
              <a:gd name="connsiteX1" fmla="*/ 12201168 w 12201168"/>
              <a:gd name="connsiteY1" fmla="*/ 4093262 h 4093262"/>
              <a:gd name="connsiteX2" fmla="*/ 0 w 12201168"/>
              <a:gd name="connsiteY2" fmla="*/ 4093262 h 4093262"/>
              <a:gd name="connsiteX3" fmla="*/ 0 w 12201168"/>
              <a:gd name="connsiteY3" fmla="*/ 49771 h 4093262"/>
              <a:gd name="connsiteX4" fmla="*/ 344880 w 12201168"/>
              <a:gd name="connsiteY4" fmla="*/ 64399 h 4093262"/>
              <a:gd name="connsiteX5" fmla="*/ 9469555 w 12201168"/>
              <a:gd name="connsiteY5" fmla="*/ 167599 h 4093262"/>
              <a:gd name="connsiteX6" fmla="*/ 11750723 w 12201168"/>
              <a:gd name="connsiteY6" fmla="*/ 7961 h 4093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1168" h="4093262">
                <a:moveTo>
                  <a:pt x="12201168" y="0"/>
                </a:moveTo>
                <a:lnTo>
                  <a:pt x="12201168" y="4093262"/>
                </a:lnTo>
                <a:lnTo>
                  <a:pt x="0" y="4093262"/>
                </a:lnTo>
                <a:lnTo>
                  <a:pt x="0" y="49771"/>
                </a:lnTo>
                <a:lnTo>
                  <a:pt x="344880" y="64399"/>
                </a:lnTo>
                <a:cubicBezTo>
                  <a:pt x="3386438" y="213466"/>
                  <a:pt x="6427997" y="534535"/>
                  <a:pt x="9469555" y="167599"/>
                </a:cubicBezTo>
                <a:cubicBezTo>
                  <a:pt x="10229945" y="75865"/>
                  <a:pt x="10990334" y="27132"/>
                  <a:pt x="11750723" y="7961"/>
                </a:cubicBezTo>
                <a:close/>
              </a:path>
            </a:pathLst>
          </a:custGeom>
        </p:spPr>
      </p:pic>
      <p:sp>
        <p:nvSpPr>
          <p:cNvPr id="4" name="Slide Number Placeholder 3">
            <a:extLst>
              <a:ext uri="{FF2B5EF4-FFF2-40B4-BE49-F238E27FC236}">
                <a16:creationId xmlns:a16="http://schemas.microsoft.com/office/drawing/2014/main" id="{5382DD0A-13D2-43CA-9F6B-F76B02C6D664}"/>
              </a:ext>
            </a:extLst>
          </p:cNvPr>
          <p:cNvSpPr>
            <a:spLocks noGrp="1"/>
          </p:cNvSpPr>
          <p:nvPr>
            <p:ph type="sldNum" sz="quarter" idx="12"/>
          </p:nvPr>
        </p:nvSpPr>
        <p:spPr>
          <a:xfrm>
            <a:off x="8966195" y="6356350"/>
            <a:ext cx="2743200" cy="365125"/>
          </a:xfrm>
        </p:spPr>
        <p:txBody>
          <a:bodyPr>
            <a:normAutofit/>
          </a:bodyPr>
          <a:lstStyle/>
          <a:p>
            <a:pPr algn="r">
              <a:spcAft>
                <a:spcPts val="600"/>
              </a:spcAft>
            </a:pPr>
            <a:fld id="{B01D9778-10B4-40FB-B4E4-44FA89A86639}" type="slidenum">
              <a:rPr lang="en-US">
                <a:solidFill>
                  <a:prstClr val="white"/>
                </a:solidFill>
              </a:rPr>
              <a:pPr algn="r">
                <a:spcAft>
                  <a:spcPts val="600"/>
                </a:spcAft>
              </a:pPr>
              <a:t>16</a:t>
            </a:fld>
            <a:endParaRPr lang="en-US">
              <a:solidFill>
                <a:prstClr val="white"/>
              </a:solidFill>
            </a:endParaRPr>
          </a:p>
        </p:txBody>
      </p:sp>
    </p:spTree>
    <p:extLst>
      <p:ext uri="{BB962C8B-B14F-4D97-AF65-F5344CB8AC3E}">
        <p14:creationId xmlns:p14="http://schemas.microsoft.com/office/powerpoint/2010/main" val="2311763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59DE0-CF2A-4724-9D45-9938F76252F3}"/>
              </a:ext>
            </a:extLst>
          </p:cNvPr>
          <p:cNvSpPr>
            <a:spLocks noGrp="1"/>
          </p:cNvSpPr>
          <p:nvPr>
            <p:ph type="title"/>
          </p:nvPr>
        </p:nvSpPr>
        <p:spPr/>
        <p:txBody>
          <a:bodyPr/>
          <a:lstStyle/>
          <a:p>
            <a:r>
              <a:rPr lang="en-US" dirty="0"/>
              <a:t>The Combination</a:t>
            </a:r>
            <a:endParaRPr lang="en-IL" dirty="0"/>
          </a:p>
        </p:txBody>
      </p:sp>
      <p:sp>
        <p:nvSpPr>
          <p:cNvPr id="3" name="Content Placeholder 2">
            <a:extLst>
              <a:ext uri="{FF2B5EF4-FFF2-40B4-BE49-F238E27FC236}">
                <a16:creationId xmlns:a16="http://schemas.microsoft.com/office/drawing/2014/main" id="{2B89C91B-6D9D-48DD-843A-918F9F354C22}"/>
              </a:ext>
            </a:extLst>
          </p:cNvPr>
          <p:cNvSpPr>
            <a:spLocks noGrp="1"/>
          </p:cNvSpPr>
          <p:nvPr>
            <p:ph idx="1"/>
          </p:nvPr>
        </p:nvSpPr>
        <p:spPr/>
        <p:txBody>
          <a:bodyPr/>
          <a:lstStyle/>
          <a:p>
            <a:r>
              <a:rPr lang="en-US" dirty="0"/>
              <a:t>For every image the ORB-SLAM gets, run YOLO to get tuples of &lt;</a:t>
            </a:r>
            <a:r>
              <a:rPr lang="en-US" u="sng" dirty="0"/>
              <a:t>bounding box</a:t>
            </a:r>
            <a:r>
              <a:rPr lang="en-US" dirty="0"/>
              <a:t>, </a:t>
            </a:r>
            <a:r>
              <a:rPr lang="en-US" dirty="0">
                <a:solidFill>
                  <a:schemeClr val="accent4">
                    <a:lumMod val="60000"/>
                    <a:lumOff val="40000"/>
                  </a:schemeClr>
                </a:solidFill>
              </a:rPr>
              <a:t>class</a:t>
            </a:r>
            <a:r>
              <a:rPr lang="en-US" dirty="0"/>
              <a:t>&gt;.</a:t>
            </a:r>
          </a:p>
          <a:p>
            <a:r>
              <a:rPr lang="en-US" dirty="0"/>
              <a:t>For each tuple &lt;</a:t>
            </a:r>
            <a:r>
              <a:rPr lang="en-US" u="sng" dirty="0"/>
              <a:t>bounding box</a:t>
            </a:r>
            <a:r>
              <a:rPr lang="en-US" dirty="0"/>
              <a:t>, </a:t>
            </a:r>
            <a:r>
              <a:rPr lang="en-US" dirty="0">
                <a:solidFill>
                  <a:schemeClr val="accent4">
                    <a:lumMod val="60000"/>
                    <a:lumOff val="40000"/>
                  </a:schemeClr>
                </a:solidFill>
              </a:rPr>
              <a:t>class</a:t>
            </a:r>
            <a:r>
              <a:rPr lang="en-US" dirty="0"/>
              <a:t>&gt; classify all ORB features in </a:t>
            </a:r>
            <a:r>
              <a:rPr lang="en-US" u="sng" dirty="0"/>
              <a:t>bounding box </a:t>
            </a:r>
            <a:r>
              <a:rPr lang="en-US" dirty="0"/>
              <a:t>as </a:t>
            </a:r>
            <a:r>
              <a:rPr lang="en-US" dirty="0">
                <a:solidFill>
                  <a:schemeClr val="accent4">
                    <a:lumMod val="60000"/>
                    <a:lumOff val="40000"/>
                  </a:schemeClr>
                </a:solidFill>
              </a:rPr>
              <a:t>class.</a:t>
            </a:r>
          </a:p>
          <a:p>
            <a:r>
              <a:rPr lang="en-US" dirty="0"/>
              <a:t>When Local Mapping creates new map point- if has </a:t>
            </a:r>
            <a:r>
              <a:rPr lang="en-US" dirty="0">
                <a:solidFill>
                  <a:schemeClr val="accent4">
                    <a:lumMod val="60000"/>
                    <a:lumOff val="40000"/>
                  </a:schemeClr>
                </a:solidFill>
              </a:rPr>
              <a:t>class</a:t>
            </a:r>
            <a:r>
              <a:rPr lang="en-US" dirty="0"/>
              <a:t> then classify map point as </a:t>
            </a:r>
            <a:r>
              <a:rPr lang="en-US" dirty="0">
                <a:solidFill>
                  <a:schemeClr val="accent4">
                    <a:lumMod val="60000"/>
                    <a:lumOff val="40000"/>
                  </a:schemeClr>
                </a:solidFill>
              </a:rPr>
              <a:t>class</a:t>
            </a:r>
            <a:r>
              <a:rPr lang="en-US" dirty="0"/>
              <a:t>.</a:t>
            </a:r>
          </a:p>
          <a:p>
            <a:r>
              <a:rPr lang="en-US" dirty="0"/>
              <a:t>Now we have a point cloud of unknown number cones.</a:t>
            </a:r>
            <a:endParaRPr lang="en-IL" dirty="0"/>
          </a:p>
        </p:txBody>
      </p:sp>
      <p:sp>
        <p:nvSpPr>
          <p:cNvPr id="4" name="Slide Number Placeholder 3">
            <a:extLst>
              <a:ext uri="{FF2B5EF4-FFF2-40B4-BE49-F238E27FC236}">
                <a16:creationId xmlns:a16="http://schemas.microsoft.com/office/drawing/2014/main" id="{5A735F50-7400-4F70-8E86-7F668DF08D12}"/>
              </a:ext>
            </a:extLst>
          </p:cNvPr>
          <p:cNvSpPr>
            <a:spLocks noGrp="1"/>
          </p:cNvSpPr>
          <p:nvPr>
            <p:ph type="sldNum" sz="quarter" idx="12"/>
          </p:nvPr>
        </p:nvSpPr>
        <p:spPr/>
        <p:txBody>
          <a:bodyPr/>
          <a:lstStyle/>
          <a:p>
            <a:fld id="{B01D9778-10B4-40FB-B4E4-44FA89A86639}" type="slidenum">
              <a:rPr lang="en-US" smtClean="0"/>
              <a:pPr/>
              <a:t>17</a:t>
            </a:fld>
            <a:endParaRPr lang="en-US"/>
          </a:p>
        </p:txBody>
      </p:sp>
    </p:spTree>
    <p:extLst>
      <p:ext uri="{BB962C8B-B14F-4D97-AF65-F5344CB8AC3E}">
        <p14:creationId xmlns:p14="http://schemas.microsoft.com/office/powerpoint/2010/main" val="3412637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7D20BB9-1768-4FF6-B256-55859B77C24F}"/>
              </a:ext>
            </a:extLst>
          </p:cNvPr>
          <p:cNvPicPr>
            <a:picLocks noChangeAspect="1"/>
          </p:cNvPicPr>
          <p:nvPr/>
        </p:nvPicPr>
        <p:blipFill>
          <a:blip r:embed="rId3"/>
          <a:stretch>
            <a:fillRect/>
          </a:stretch>
        </p:blipFill>
        <p:spPr>
          <a:xfrm>
            <a:off x="0" y="-83266"/>
            <a:ext cx="12192000" cy="7024532"/>
          </a:xfrm>
          <a:prstGeom prst="rect">
            <a:avLst/>
          </a:prstGeom>
        </p:spPr>
      </p:pic>
      <p:sp>
        <p:nvSpPr>
          <p:cNvPr id="24"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3AC56CE6-F615-4177-90E9-E9A81EC0021A}"/>
              </a:ext>
            </a:extLst>
          </p:cNvPr>
          <p:cNvSpPr>
            <a:spLocks noGrp="1"/>
          </p:cNvSpPr>
          <p:nvPr>
            <p:ph type="title"/>
          </p:nvPr>
        </p:nvSpPr>
        <p:spPr>
          <a:xfrm>
            <a:off x="709448" y="1913950"/>
            <a:ext cx="4204137" cy="1342754"/>
          </a:xfrm>
        </p:spPr>
        <p:txBody>
          <a:bodyPr>
            <a:normAutofit/>
          </a:bodyPr>
          <a:lstStyle/>
          <a:p>
            <a:r>
              <a:rPr lang="en-US" sz="3600" dirty="0"/>
              <a:t>Step 3:</a:t>
            </a:r>
            <a:br>
              <a:rPr lang="en-US" sz="3600" dirty="0"/>
            </a:br>
            <a:r>
              <a:rPr lang="en-US" sz="3600" dirty="0"/>
              <a:t>Clustering</a:t>
            </a:r>
            <a:endParaRPr lang="en-IL" sz="3600" dirty="0"/>
          </a:p>
        </p:txBody>
      </p:sp>
      <p:cxnSp>
        <p:nvCxnSpPr>
          <p:cNvPr id="26" name="Straight Connector 25">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4EB6374-864C-41EC-A464-F96BF2C424AC}"/>
              </a:ext>
            </a:extLst>
          </p:cNvPr>
          <p:cNvSpPr>
            <a:spLocks noGrp="1"/>
          </p:cNvSpPr>
          <p:nvPr>
            <p:ph idx="1"/>
          </p:nvPr>
        </p:nvSpPr>
        <p:spPr>
          <a:xfrm>
            <a:off x="525516" y="3417573"/>
            <a:ext cx="4593021" cy="2619839"/>
          </a:xfrm>
        </p:spPr>
        <p:txBody>
          <a:bodyPr anchor="ctr">
            <a:normAutofit/>
          </a:bodyPr>
          <a:lstStyle/>
          <a:p>
            <a:r>
              <a:rPr lang="en-US" sz="1800" dirty="0"/>
              <a:t>Clustering solution: DBSCAN</a:t>
            </a:r>
            <a:endParaRPr lang="en-IL" sz="1800" dirty="0"/>
          </a:p>
        </p:txBody>
      </p:sp>
    </p:spTree>
    <p:extLst>
      <p:ext uri="{BB962C8B-B14F-4D97-AF65-F5344CB8AC3E}">
        <p14:creationId xmlns:p14="http://schemas.microsoft.com/office/powerpoint/2010/main" val="3206995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52C20-41C5-46A7-8BAF-4EE8FB5B233D}"/>
              </a:ext>
            </a:extLst>
          </p:cNvPr>
          <p:cNvSpPr>
            <a:spLocks noGrp="1"/>
          </p:cNvSpPr>
          <p:nvPr>
            <p:ph type="title"/>
          </p:nvPr>
        </p:nvSpPr>
        <p:spPr/>
        <p:txBody>
          <a:bodyPr/>
          <a:lstStyle/>
          <a:p>
            <a:r>
              <a:rPr lang="en-US" dirty="0"/>
              <a:t>Clustering</a:t>
            </a:r>
            <a:endParaRPr lang="en-IL" dirty="0"/>
          </a:p>
        </p:txBody>
      </p:sp>
      <p:sp>
        <p:nvSpPr>
          <p:cNvPr id="3" name="Content Placeholder 2">
            <a:extLst>
              <a:ext uri="{FF2B5EF4-FFF2-40B4-BE49-F238E27FC236}">
                <a16:creationId xmlns:a16="http://schemas.microsoft.com/office/drawing/2014/main" id="{C3BBCEFA-328F-4802-9C9C-5CBD1113EB81}"/>
              </a:ext>
            </a:extLst>
          </p:cNvPr>
          <p:cNvSpPr>
            <a:spLocks noGrp="1"/>
          </p:cNvSpPr>
          <p:nvPr>
            <p:ph idx="1"/>
          </p:nvPr>
        </p:nvSpPr>
        <p:spPr/>
        <p:txBody>
          <a:bodyPr/>
          <a:lstStyle/>
          <a:p>
            <a:r>
              <a:rPr lang="en-US" dirty="0"/>
              <a:t>The cones will be 3 meters apart (competition rules).</a:t>
            </a:r>
          </a:p>
          <a:p>
            <a:r>
              <a:rPr lang="en-US" dirty="0"/>
              <a:t>Given set of 3d points (point cloud) find clusters that represent single cones.</a:t>
            </a:r>
          </a:p>
          <a:p>
            <a:r>
              <a:rPr lang="en-US" dirty="0"/>
              <a:t>We will use DBSCAN (Density-Based Spatial Clustering of Applications with Noise) which needs only 2 parameters and designed for spatial clustering- exactly our problem.</a:t>
            </a:r>
            <a:endParaRPr lang="en-IL" dirty="0"/>
          </a:p>
        </p:txBody>
      </p:sp>
      <p:sp>
        <p:nvSpPr>
          <p:cNvPr id="4" name="Slide Number Placeholder 3">
            <a:extLst>
              <a:ext uri="{FF2B5EF4-FFF2-40B4-BE49-F238E27FC236}">
                <a16:creationId xmlns:a16="http://schemas.microsoft.com/office/drawing/2014/main" id="{FDCBC442-3ADD-4E0F-89B8-00267A6C9E22}"/>
              </a:ext>
            </a:extLst>
          </p:cNvPr>
          <p:cNvSpPr>
            <a:spLocks noGrp="1"/>
          </p:cNvSpPr>
          <p:nvPr>
            <p:ph type="sldNum" sz="quarter" idx="12"/>
          </p:nvPr>
        </p:nvSpPr>
        <p:spPr/>
        <p:txBody>
          <a:bodyPr/>
          <a:lstStyle/>
          <a:p>
            <a:fld id="{B01D9778-10B4-40FB-B4E4-44FA89A86639}" type="slidenum">
              <a:rPr lang="en-US" smtClean="0"/>
              <a:pPr/>
              <a:t>19</a:t>
            </a:fld>
            <a:endParaRPr lang="en-US"/>
          </a:p>
        </p:txBody>
      </p:sp>
    </p:spTree>
    <p:extLst>
      <p:ext uri="{BB962C8B-B14F-4D97-AF65-F5344CB8AC3E}">
        <p14:creationId xmlns:p14="http://schemas.microsoft.com/office/powerpoint/2010/main" val="2485412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A2822-A0C3-4101-9E7E-AE94DA5963DA}"/>
              </a:ext>
            </a:extLst>
          </p:cNvPr>
          <p:cNvSpPr>
            <a:spLocks noGrp="1"/>
          </p:cNvSpPr>
          <p:nvPr>
            <p:ph type="title"/>
          </p:nvPr>
        </p:nvSpPr>
        <p:spPr>
          <a:xfrm>
            <a:off x="838200" y="365125"/>
            <a:ext cx="10515600" cy="1325563"/>
          </a:xfrm>
        </p:spPr>
        <p:txBody>
          <a:bodyPr>
            <a:normAutofit/>
          </a:bodyPr>
          <a:lstStyle/>
          <a:p>
            <a:r>
              <a:rPr lang="en-US" dirty="0"/>
              <a:t>DBSCAN</a:t>
            </a:r>
            <a:endParaRPr lang="en-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E83B4B-E4CA-4128-B40C-C84380E4A91B}"/>
                  </a:ext>
                </a:extLst>
              </p:cNvPr>
              <p:cNvSpPr>
                <a:spLocks noGrp="1"/>
              </p:cNvSpPr>
              <p:nvPr>
                <p:ph idx="1"/>
              </p:nvPr>
            </p:nvSpPr>
            <p:spPr>
              <a:xfrm>
                <a:off x="838200" y="1825625"/>
                <a:ext cx="5015484" cy="4351338"/>
              </a:xfrm>
            </p:spPr>
            <p:txBody>
              <a:bodyPr>
                <a:normAutofit/>
              </a:bodyPr>
              <a:lstStyle/>
              <a:p>
                <a:r>
                  <a:rPr lang="en-US" sz="2000" dirty="0"/>
                  <a:t>Needs 2 parameters: </a:t>
                </a:r>
                <a14:m>
                  <m:oMath xmlns:m="http://schemas.openxmlformats.org/officeDocument/2006/math">
                    <m:r>
                      <a:rPr lang="en-US" sz="2000" b="0" i="1">
                        <a:latin typeface="Cambria Math" panose="02040503050406030204" pitchFamily="18" charset="0"/>
                      </a:rPr>
                      <m:t>𝜖</m:t>
                    </m:r>
                  </m:oMath>
                </a14:m>
                <a:r>
                  <a:rPr lang="en-US" sz="2000" dirty="0"/>
                  <a:t> and p.</a:t>
                </a:r>
              </a:p>
              <a:p>
                <a:r>
                  <a:rPr lang="en-US" sz="2000" dirty="0"/>
                  <a:t>3 types of points:</a:t>
                </a:r>
              </a:p>
              <a:p>
                <a:pPr lvl="1"/>
                <a:r>
                  <a:rPr lang="en-US" sz="2000" dirty="0"/>
                  <a:t>Core point (A): has at least p points (including C) within distance </a:t>
                </a:r>
                <a14:m>
                  <m:oMath xmlns:m="http://schemas.openxmlformats.org/officeDocument/2006/math">
                    <m:r>
                      <a:rPr lang="en-US" sz="2000" i="1">
                        <a:latin typeface="Cambria Math" panose="02040503050406030204" pitchFamily="18" charset="0"/>
                      </a:rPr>
                      <m:t>𝜖</m:t>
                    </m:r>
                  </m:oMath>
                </a14:m>
                <a:r>
                  <a:rPr lang="en-US" sz="2000" dirty="0"/>
                  <a:t> of it.</a:t>
                </a:r>
              </a:p>
              <a:p>
                <a:pPr lvl="1"/>
                <a:r>
                  <a:rPr lang="en-US" sz="2000" dirty="0"/>
                  <a:t>Reachable point (B,C): point within distance </a:t>
                </a:r>
                <a14:m>
                  <m:oMath xmlns:m="http://schemas.openxmlformats.org/officeDocument/2006/math">
                    <m:r>
                      <a:rPr lang="en-US" sz="2000" i="1">
                        <a:latin typeface="Cambria Math" panose="02040503050406030204" pitchFamily="18" charset="0"/>
                      </a:rPr>
                      <m:t>𝜖</m:t>
                    </m:r>
                  </m:oMath>
                </a14:m>
                <a:r>
                  <a:rPr lang="en-US" sz="2000" dirty="0"/>
                  <a:t> of core point but isn’t a Core point.</a:t>
                </a:r>
              </a:p>
              <a:p>
                <a:pPr lvl="1"/>
                <a:r>
                  <a:rPr lang="en-US" sz="2000" dirty="0"/>
                  <a:t>Outliers (N): none Core or Reachable points.</a:t>
                </a:r>
              </a:p>
              <a:p>
                <a14:m>
                  <m:oMath xmlns:m="http://schemas.openxmlformats.org/officeDocument/2006/math">
                    <m:r>
                      <a:rPr lang="en-US" sz="2000" i="1">
                        <a:latin typeface="Cambria Math" panose="02040503050406030204" pitchFamily="18" charset="0"/>
                      </a:rPr>
                      <m:t>𝜖</m:t>
                    </m:r>
                  </m:oMath>
                </a14:m>
                <a:r>
                  <a:rPr lang="en-US" sz="2000" dirty="0"/>
                  <a:t>=0.5 (approximate cone size), p=3 was found good.</a:t>
                </a:r>
              </a:p>
            </p:txBody>
          </p:sp>
        </mc:Choice>
        <mc:Fallback xmlns="">
          <p:sp>
            <p:nvSpPr>
              <p:cNvPr id="3" name="Content Placeholder 2">
                <a:extLst>
                  <a:ext uri="{FF2B5EF4-FFF2-40B4-BE49-F238E27FC236}">
                    <a16:creationId xmlns:a16="http://schemas.microsoft.com/office/drawing/2014/main" id="{78E83B4B-E4CA-4128-B40C-C84380E4A91B}"/>
                  </a:ext>
                </a:extLst>
              </p:cNvPr>
              <p:cNvSpPr>
                <a:spLocks noGrp="1" noRot="1" noChangeAspect="1" noMove="1" noResize="1" noEditPoints="1" noAdjustHandles="1" noChangeArrowheads="1" noChangeShapeType="1" noTextEdit="1"/>
              </p:cNvSpPr>
              <p:nvPr>
                <p:ph idx="1"/>
              </p:nvPr>
            </p:nvSpPr>
            <p:spPr>
              <a:xfrm>
                <a:off x="838200" y="1825625"/>
                <a:ext cx="5015484" cy="4351338"/>
              </a:xfrm>
              <a:blipFill>
                <a:blip r:embed="rId2"/>
                <a:stretch>
                  <a:fillRect l="-1095" t="-700" r="-1703"/>
                </a:stretch>
              </a:blipFill>
            </p:spPr>
            <p:txBody>
              <a:bodyPr/>
              <a:lstStyle/>
              <a:p>
                <a:r>
                  <a:rPr lang="en-IL">
                    <a:noFill/>
                  </a:rPr>
                  <a:t> </a:t>
                </a:r>
              </a:p>
            </p:txBody>
          </p:sp>
        </mc:Fallback>
      </mc:AlternateContent>
      <p:pic>
        <p:nvPicPr>
          <p:cNvPr id="5" name="Picture 4">
            <a:extLst>
              <a:ext uri="{FF2B5EF4-FFF2-40B4-BE49-F238E27FC236}">
                <a16:creationId xmlns:a16="http://schemas.microsoft.com/office/drawing/2014/main" id="{A559F3F7-C97F-428E-BBDD-DFF8FB82568C}"/>
              </a:ext>
            </a:extLst>
          </p:cNvPr>
          <p:cNvPicPr>
            <a:picLocks noChangeAspect="1"/>
          </p:cNvPicPr>
          <p:nvPr/>
        </p:nvPicPr>
        <p:blipFill rotWithShape="1">
          <a:blip r:embed="rId3"/>
          <a:srcRect l="3687" r="10510" b="-2"/>
          <a:stretch/>
        </p:blipFill>
        <p:spPr>
          <a:xfrm>
            <a:off x="6338316" y="1904281"/>
            <a:ext cx="5074070" cy="4272681"/>
          </a:xfrm>
          <a:prstGeom prst="rect">
            <a:avLst/>
          </a:prstGeom>
        </p:spPr>
      </p:pic>
      <p:sp>
        <p:nvSpPr>
          <p:cNvPr id="4" name="Slide Number Placeholder 3">
            <a:extLst>
              <a:ext uri="{FF2B5EF4-FFF2-40B4-BE49-F238E27FC236}">
                <a16:creationId xmlns:a16="http://schemas.microsoft.com/office/drawing/2014/main" id="{83F99081-B40F-4EBA-8EEC-CF54DAE74A77}"/>
              </a:ext>
            </a:extLst>
          </p:cNvPr>
          <p:cNvSpPr>
            <a:spLocks noGrp="1"/>
          </p:cNvSpPr>
          <p:nvPr>
            <p:ph type="sldNum" sz="quarter" idx="12"/>
          </p:nvPr>
        </p:nvSpPr>
        <p:spPr>
          <a:xfrm>
            <a:off x="8610600" y="6356350"/>
            <a:ext cx="2743200" cy="365125"/>
          </a:xfrm>
        </p:spPr>
        <p:txBody>
          <a:bodyPr>
            <a:normAutofit/>
          </a:bodyPr>
          <a:lstStyle/>
          <a:p>
            <a:pPr>
              <a:spcAft>
                <a:spcPts val="600"/>
              </a:spcAft>
            </a:pPr>
            <a:fld id="{B01D9778-10B4-40FB-B4E4-44FA89A86639}" type="slidenum">
              <a:rPr lang="en-US" smtClean="0"/>
              <a:pPr>
                <a:spcAft>
                  <a:spcPts val="600"/>
                </a:spcAft>
              </a:pPr>
              <a:t>20</a:t>
            </a:fld>
            <a:endParaRPr lang="en-US"/>
          </a:p>
        </p:txBody>
      </p:sp>
    </p:spTree>
    <p:extLst>
      <p:ext uri="{BB962C8B-B14F-4D97-AF65-F5344CB8AC3E}">
        <p14:creationId xmlns:p14="http://schemas.microsoft.com/office/powerpoint/2010/main" val="2356191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F6DACC-5448-47FC-97D2-B224F96F6895}"/>
              </a:ext>
            </a:extLst>
          </p:cNvPr>
          <p:cNvPicPr>
            <a:picLocks noChangeAspect="1"/>
          </p:cNvPicPr>
          <p:nvPr/>
        </p:nvPicPr>
        <p:blipFill>
          <a:blip r:embed="rId3"/>
          <a:stretch>
            <a:fillRect/>
          </a:stretch>
        </p:blipFill>
        <p:spPr>
          <a:xfrm>
            <a:off x="0" y="0"/>
            <a:ext cx="12192000" cy="6858000"/>
          </a:xfrm>
          <a:prstGeom prst="rect">
            <a:avLst/>
          </a:prstGeom>
        </p:spPr>
      </p:pic>
      <p:sp>
        <p:nvSpPr>
          <p:cNvPr id="24"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3AC56CE6-F615-4177-90E9-E9A81EC0021A}"/>
              </a:ext>
            </a:extLst>
          </p:cNvPr>
          <p:cNvSpPr>
            <a:spLocks noGrp="1"/>
          </p:cNvSpPr>
          <p:nvPr>
            <p:ph type="title"/>
          </p:nvPr>
        </p:nvSpPr>
        <p:spPr>
          <a:xfrm>
            <a:off x="709448" y="1913950"/>
            <a:ext cx="4204137" cy="1342754"/>
          </a:xfrm>
        </p:spPr>
        <p:txBody>
          <a:bodyPr>
            <a:normAutofit/>
          </a:bodyPr>
          <a:lstStyle/>
          <a:p>
            <a:r>
              <a:rPr lang="en-US" sz="3600" dirty="0"/>
              <a:t>Communication</a:t>
            </a:r>
            <a:endParaRPr lang="en-IL" sz="3600" dirty="0"/>
          </a:p>
        </p:txBody>
      </p:sp>
      <p:cxnSp>
        <p:nvCxnSpPr>
          <p:cNvPr id="26" name="Straight Connector 25">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4EB6374-864C-41EC-A464-F96BF2C424AC}"/>
              </a:ext>
            </a:extLst>
          </p:cNvPr>
          <p:cNvSpPr>
            <a:spLocks noGrp="1"/>
          </p:cNvSpPr>
          <p:nvPr>
            <p:ph idx="1"/>
          </p:nvPr>
        </p:nvSpPr>
        <p:spPr>
          <a:xfrm>
            <a:off x="525516" y="3417573"/>
            <a:ext cx="4593021" cy="2619839"/>
          </a:xfrm>
        </p:spPr>
        <p:txBody>
          <a:bodyPr anchor="ctr">
            <a:normAutofit/>
          </a:bodyPr>
          <a:lstStyle/>
          <a:p>
            <a:r>
              <a:rPr lang="en-US" sz="1800" dirty="0"/>
              <a:t>Communication solution: ROS</a:t>
            </a:r>
            <a:endParaRPr lang="en-IL" sz="1800" dirty="0"/>
          </a:p>
        </p:txBody>
      </p:sp>
    </p:spTree>
    <p:extLst>
      <p:ext uri="{BB962C8B-B14F-4D97-AF65-F5344CB8AC3E}">
        <p14:creationId xmlns:p14="http://schemas.microsoft.com/office/powerpoint/2010/main" val="393227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1CD3A-ED3C-4645-8C8F-DFB5B913F4DD}"/>
              </a:ext>
            </a:extLst>
          </p:cNvPr>
          <p:cNvSpPr>
            <a:spLocks noGrp="1"/>
          </p:cNvSpPr>
          <p:nvPr>
            <p:ph type="title"/>
          </p:nvPr>
        </p:nvSpPr>
        <p:spPr/>
        <p:txBody>
          <a:bodyPr/>
          <a:lstStyle/>
          <a:p>
            <a:r>
              <a:rPr lang="en-US" dirty="0"/>
              <a:t>Communication</a:t>
            </a:r>
            <a:endParaRPr lang="en-IL" dirty="0"/>
          </a:p>
        </p:txBody>
      </p:sp>
      <p:sp>
        <p:nvSpPr>
          <p:cNvPr id="3" name="Content Placeholder 2">
            <a:extLst>
              <a:ext uri="{FF2B5EF4-FFF2-40B4-BE49-F238E27FC236}">
                <a16:creationId xmlns:a16="http://schemas.microsoft.com/office/drawing/2014/main" id="{DB12C10F-4C84-4190-8017-990C4C44C2AE}"/>
              </a:ext>
            </a:extLst>
          </p:cNvPr>
          <p:cNvSpPr>
            <a:spLocks noGrp="1"/>
          </p:cNvSpPr>
          <p:nvPr>
            <p:ph idx="1"/>
          </p:nvPr>
        </p:nvSpPr>
        <p:spPr/>
        <p:txBody>
          <a:bodyPr/>
          <a:lstStyle/>
          <a:p>
            <a:r>
              <a:rPr lang="en-US" dirty="0"/>
              <a:t>Every step of the system works independently, we need something to move data between them.</a:t>
            </a:r>
          </a:p>
          <a:p>
            <a:r>
              <a:rPr lang="en-US" dirty="0"/>
              <a:t>We also need a modular system for adding more advanced algorithms in the future.</a:t>
            </a:r>
          </a:p>
          <a:p>
            <a:r>
              <a:rPr lang="en-US" dirty="0"/>
              <a:t>We will use ROS (Robot Operating System).</a:t>
            </a:r>
          </a:p>
        </p:txBody>
      </p:sp>
      <p:sp>
        <p:nvSpPr>
          <p:cNvPr id="4" name="Slide Number Placeholder 3">
            <a:extLst>
              <a:ext uri="{FF2B5EF4-FFF2-40B4-BE49-F238E27FC236}">
                <a16:creationId xmlns:a16="http://schemas.microsoft.com/office/drawing/2014/main" id="{D3F5FE2C-09D0-4566-8CCA-CCD6F62DBF6B}"/>
              </a:ext>
            </a:extLst>
          </p:cNvPr>
          <p:cNvSpPr>
            <a:spLocks noGrp="1"/>
          </p:cNvSpPr>
          <p:nvPr>
            <p:ph type="sldNum" sz="quarter" idx="12"/>
          </p:nvPr>
        </p:nvSpPr>
        <p:spPr/>
        <p:txBody>
          <a:bodyPr/>
          <a:lstStyle/>
          <a:p>
            <a:fld id="{B01D9778-10B4-40FB-B4E4-44FA89A86639}" type="slidenum">
              <a:rPr lang="en-US" smtClean="0"/>
              <a:pPr/>
              <a:t>22</a:t>
            </a:fld>
            <a:endParaRPr lang="en-US"/>
          </a:p>
        </p:txBody>
      </p:sp>
    </p:spTree>
    <p:extLst>
      <p:ext uri="{BB962C8B-B14F-4D97-AF65-F5344CB8AC3E}">
        <p14:creationId xmlns:p14="http://schemas.microsoft.com/office/powerpoint/2010/main" val="522179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C9761-958E-49AF-950F-14509BE34B12}"/>
              </a:ext>
            </a:extLst>
          </p:cNvPr>
          <p:cNvSpPr>
            <a:spLocks noGrp="1"/>
          </p:cNvSpPr>
          <p:nvPr>
            <p:ph type="title"/>
          </p:nvPr>
        </p:nvSpPr>
        <p:spPr/>
        <p:txBody>
          <a:bodyPr/>
          <a:lstStyle/>
          <a:p>
            <a:r>
              <a:rPr lang="en-US" dirty="0"/>
              <a:t>ROS</a:t>
            </a:r>
            <a:endParaRPr lang="en-IL" dirty="0"/>
          </a:p>
        </p:txBody>
      </p:sp>
      <p:sp>
        <p:nvSpPr>
          <p:cNvPr id="3" name="Content Placeholder 2">
            <a:extLst>
              <a:ext uri="{FF2B5EF4-FFF2-40B4-BE49-F238E27FC236}">
                <a16:creationId xmlns:a16="http://schemas.microsoft.com/office/drawing/2014/main" id="{D4CBC475-069E-461D-A2B6-17006D8A908C}"/>
              </a:ext>
            </a:extLst>
          </p:cNvPr>
          <p:cNvSpPr>
            <a:spLocks noGrp="1"/>
          </p:cNvSpPr>
          <p:nvPr>
            <p:ph idx="1"/>
          </p:nvPr>
        </p:nvSpPr>
        <p:spPr/>
        <p:txBody>
          <a:bodyPr>
            <a:normAutofit lnSpcReduction="10000"/>
          </a:bodyPr>
          <a:lstStyle/>
          <a:p>
            <a:r>
              <a:rPr lang="en-US" dirty="0"/>
              <a:t>Publisher-Subscriber: uses topics that one can publish or subscribe to.</a:t>
            </a:r>
          </a:p>
          <a:p>
            <a:r>
              <a:rPr lang="en-US" dirty="0"/>
              <a:t>In </a:t>
            </a:r>
            <a:r>
              <a:rPr lang="en-US" dirty="0" err="1"/>
              <a:t>cone_slam</a:t>
            </a:r>
            <a:r>
              <a:rPr lang="en-US" dirty="0"/>
              <a:t> the ZED camera publishes to /</a:t>
            </a:r>
            <a:r>
              <a:rPr lang="en-US" dirty="0" err="1"/>
              <a:t>zed_node</a:t>
            </a:r>
            <a:r>
              <a:rPr lang="en-US" dirty="0"/>
              <a:t>/…/ which the ORB-SLAM subscribed to. ORB-SLAM publishes to /</a:t>
            </a:r>
            <a:r>
              <a:rPr lang="en-US" dirty="0" err="1"/>
              <a:t>points_map</a:t>
            </a:r>
            <a:r>
              <a:rPr lang="en-US" dirty="0"/>
              <a:t> which </a:t>
            </a:r>
            <a:r>
              <a:rPr lang="en-US" dirty="0" err="1"/>
              <a:t>cones_map</a:t>
            </a:r>
            <a:r>
              <a:rPr lang="en-US" dirty="0"/>
              <a:t> subscribed to, etc.</a:t>
            </a:r>
          </a:p>
          <a:p>
            <a:r>
              <a:rPr lang="en-US" dirty="0"/>
              <a:t>Almost all cameras has ROS wrapper.</a:t>
            </a:r>
          </a:p>
          <a:p>
            <a:r>
              <a:rPr lang="en-US" dirty="0"/>
              <a:t>Has powerful debugging tools: </a:t>
            </a:r>
            <a:r>
              <a:rPr lang="en-US" dirty="0" err="1"/>
              <a:t>rviz</a:t>
            </a:r>
            <a:r>
              <a:rPr lang="en-US" dirty="0"/>
              <a:t>, </a:t>
            </a:r>
            <a:r>
              <a:rPr lang="en-US" dirty="0" err="1"/>
              <a:t>rqt</a:t>
            </a:r>
            <a:r>
              <a:rPr lang="en-US" dirty="0"/>
              <a:t>, </a:t>
            </a:r>
            <a:r>
              <a:rPr lang="en" dirty="0"/>
              <a:t>community</a:t>
            </a:r>
            <a:r>
              <a:rPr lang="en-US" dirty="0"/>
              <a:t> made tools.</a:t>
            </a:r>
          </a:p>
          <a:p>
            <a:r>
              <a:rPr lang="en-US" dirty="0"/>
              <a:t>Works with python and C++.</a:t>
            </a:r>
            <a:endParaRPr lang="en-IL" dirty="0"/>
          </a:p>
        </p:txBody>
      </p:sp>
      <p:sp>
        <p:nvSpPr>
          <p:cNvPr id="4" name="Slide Number Placeholder 3">
            <a:extLst>
              <a:ext uri="{FF2B5EF4-FFF2-40B4-BE49-F238E27FC236}">
                <a16:creationId xmlns:a16="http://schemas.microsoft.com/office/drawing/2014/main" id="{F889512B-E346-4F08-8AC4-C5C96A2977F3}"/>
              </a:ext>
            </a:extLst>
          </p:cNvPr>
          <p:cNvSpPr>
            <a:spLocks noGrp="1"/>
          </p:cNvSpPr>
          <p:nvPr>
            <p:ph type="sldNum" sz="quarter" idx="12"/>
          </p:nvPr>
        </p:nvSpPr>
        <p:spPr/>
        <p:txBody>
          <a:bodyPr/>
          <a:lstStyle/>
          <a:p>
            <a:fld id="{B01D9778-10B4-40FB-B4E4-44FA89A86639}" type="slidenum">
              <a:rPr lang="en-US" smtClean="0"/>
              <a:pPr/>
              <a:t>23</a:t>
            </a:fld>
            <a:endParaRPr lang="en-US"/>
          </a:p>
        </p:txBody>
      </p:sp>
    </p:spTree>
    <p:extLst>
      <p:ext uri="{BB962C8B-B14F-4D97-AF65-F5344CB8AC3E}">
        <p14:creationId xmlns:p14="http://schemas.microsoft.com/office/powerpoint/2010/main" val="2835771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8203CF5-812D-4189-9221-3F817D1948E3}"/>
              </a:ext>
            </a:extLst>
          </p:cNvPr>
          <p:cNvPicPr>
            <a:picLocks noChangeAspect="1"/>
          </p:cNvPicPr>
          <p:nvPr/>
        </p:nvPicPr>
        <p:blipFill rotWithShape="1">
          <a:blip r:embed="rId3"/>
          <a:srcRect b="8537"/>
          <a:stretch/>
        </p:blipFill>
        <p:spPr>
          <a:xfrm>
            <a:off x="-1" y="10"/>
            <a:ext cx="12192000" cy="6857990"/>
          </a:xfrm>
          <a:prstGeom prst="rect">
            <a:avLst/>
          </a:prstGeom>
        </p:spPr>
      </p:pic>
      <p:sp>
        <p:nvSpPr>
          <p:cNvPr id="11" name="Freeform 5">
            <a:extLst>
              <a:ext uri="{FF2B5EF4-FFF2-40B4-BE49-F238E27FC236}">
                <a16:creationId xmlns:a16="http://schemas.microsoft.com/office/drawing/2014/main" id="{3CD9DF72-87A3-404E-A828-84CBF11A8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flipH="1">
            <a:off x="0" y="998175"/>
            <a:ext cx="6017172" cy="5859825"/>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5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722AF2E6-A069-4736-B4B5-75C8AA20655D}"/>
              </a:ext>
            </a:extLst>
          </p:cNvPr>
          <p:cNvSpPr>
            <a:spLocks noGrp="1"/>
          </p:cNvSpPr>
          <p:nvPr>
            <p:ph type="title"/>
          </p:nvPr>
        </p:nvSpPr>
        <p:spPr>
          <a:xfrm>
            <a:off x="709448" y="1913950"/>
            <a:ext cx="4204137" cy="1342754"/>
          </a:xfrm>
        </p:spPr>
        <p:txBody>
          <a:bodyPr>
            <a:normAutofit/>
          </a:bodyPr>
          <a:lstStyle/>
          <a:p>
            <a:r>
              <a:rPr lang="en-US" sz="3600" dirty="0"/>
              <a:t>Debug unit</a:t>
            </a:r>
            <a:endParaRPr lang="en-IL" sz="3600" dirty="0"/>
          </a:p>
        </p:txBody>
      </p:sp>
      <p:sp>
        <p:nvSpPr>
          <p:cNvPr id="4" name="Slide Number Placeholder 3">
            <a:extLst>
              <a:ext uri="{FF2B5EF4-FFF2-40B4-BE49-F238E27FC236}">
                <a16:creationId xmlns:a16="http://schemas.microsoft.com/office/drawing/2014/main" id="{D7AA9EF4-A342-4A8F-A471-C772D17F2F4E}"/>
              </a:ext>
            </a:extLst>
          </p:cNvPr>
          <p:cNvSpPr>
            <a:spLocks noGrp="1"/>
          </p:cNvSpPr>
          <p:nvPr>
            <p:ph type="sldNum" sz="quarter" idx="12"/>
          </p:nvPr>
        </p:nvSpPr>
        <p:spPr>
          <a:xfrm>
            <a:off x="2568203" y="1232300"/>
            <a:ext cx="365760" cy="365125"/>
          </a:xfrm>
          <a:prstGeom prst="ellipse">
            <a:avLst/>
          </a:prstGeom>
          <a:solidFill>
            <a:schemeClr val="bg1">
              <a:alpha val="70000"/>
            </a:schemeClr>
          </a:solidFill>
          <a:ln>
            <a:solidFill>
              <a:schemeClr val="tx1">
                <a:lumMod val="75000"/>
                <a:lumOff val="25000"/>
              </a:schemeClr>
            </a:solidFill>
          </a:ln>
        </p:spPr>
        <p:txBody>
          <a:bodyPr>
            <a:normAutofit fontScale="55000" lnSpcReduction="20000"/>
          </a:bodyPr>
          <a:lstStyle/>
          <a:p>
            <a:pPr algn="ctr">
              <a:lnSpc>
                <a:spcPct val="90000"/>
              </a:lnSpc>
              <a:spcAft>
                <a:spcPts val="600"/>
              </a:spcAft>
            </a:pPr>
            <a:fld id="{B01D9778-10B4-40FB-B4E4-44FA89A86639}" type="slidenum">
              <a:rPr lang="en-US">
                <a:solidFill>
                  <a:schemeClr val="tx1"/>
                </a:solidFill>
              </a:rPr>
              <a:pPr algn="ctr">
                <a:lnSpc>
                  <a:spcPct val="90000"/>
                </a:lnSpc>
                <a:spcAft>
                  <a:spcPts val="600"/>
                </a:spcAft>
              </a:pPr>
              <a:t>24</a:t>
            </a:fld>
            <a:endParaRPr lang="en-US">
              <a:solidFill>
                <a:schemeClr val="tx1"/>
              </a:solidFill>
            </a:endParaRPr>
          </a:p>
        </p:txBody>
      </p:sp>
      <p:cxnSp>
        <p:nvCxnSpPr>
          <p:cNvPr id="13" name="Straight Connector 12">
            <a:extLst>
              <a:ext uri="{FF2B5EF4-FFF2-40B4-BE49-F238E27FC236}">
                <a16:creationId xmlns:a16="http://schemas.microsoft.com/office/drawing/2014/main" id="{20E3A342-4D61-4E3F-AF90-1AB42AEB96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87051" y="3337139"/>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A87748C-5B6E-4D38-8E45-D04631E2E321}"/>
              </a:ext>
            </a:extLst>
          </p:cNvPr>
          <p:cNvSpPr>
            <a:spLocks noGrp="1"/>
          </p:cNvSpPr>
          <p:nvPr>
            <p:ph idx="1"/>
          </p:nvPr>
        </p:nvSpPr>
        <p:spPr>
          <a:xfrm>
            <a:off x="525516" y="3417573"/>
            <a:ext cx="4593021" cy="2619839"/>
          </a:xfrm>
        </p:spPr>
        <p:txBody>
          <a:bodyPr anchor="ctr">
            <a:normAutofit/>
          </a:bodyPr>
          <a:lstStyle/>
          <a:p>
            <a:r>
              <a:rPr lang="en-US" sz="1800" dirty="0"/>
              <a:t>Visualization: </a:t>
            </a:r>
            <a:r>
              <a:rPr lang="en-US" sz="1800" dirty="0" err="1"/>
              <a:t>RViz</a:t>
            </a:r>
            <a:endParaRPr lang="en-IL" sz="1800" dirty="0"/>
          </a:p>
        </p:txBody>
      </p:sp>
    </p:spTree>
    <p:extLst>
      <p:ext uri="{BB962C8B-B14F-4D97-AF65-F5344CB8AC3E}">
        <p14:creationId xmlns:p14="http://schemas.microsoft.com/office/powerpoint/2010/main" val="3374447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BA88D-D4D8-4960-850B-5FEA099C607B}"/>
              </a:ext>
            </a:extLst>
          </p:cNvPr>
          <p:cNvSpPr>
            <a:spLocks noGrp="1"/>
          </p:cNvSpPr>
          <p:nvPr>
            <p:ph type="title"/>
          </p:nvPr>
        </p:nvSpPr>
        <p:spPr/>
        <p:txBody>
          <a:bodyPr/>
          <a:lstStyle/>
          <a:p>
            <a:r>
              <a:rPr lang="en-US" dirty="0"/>
              <a:t>Debug unit</a:t>
            </a:r>
            <a:endParaRPr lang="en-IL" dirty="0"/>
          </a:p>
        </p:txBody>
      </p:sp>
      <p:sp>
        <p:nvSpPr>
          <p:cNvPr id="3" name="Content Placeholder 2">
            <a:extLst>
              <a:ext uri="{FF2B5EF4-FFF2-40B4-BE49-F238E27FC236}">
                <a16:creationId xmlns:a16="http://schemas.microsoft.com/office/drawing/2014/main" id="{8C8D9914-8466-42B2-93D9-60F6D8D492B1}"/>
              </a:ext>
            </a:extLst>
          </p:cNvPr>
          <p:cNvSpPr>
            <a:spLocks noGrp="1"/>
          </p:cNvSpPr>
          <p:nvPr>
            <p:ph idx="1"/>
          </p:nvPr>
        </p:nvSpPr>
        <p:spPr/>
        <p:txBody>
          <a:bodyPr>
            <a:normAutofit/>
          </a:bodyPr>
          <a:lstStyle/>
          <a:p>
            <a:r>
              <a:rPr lang="en-US" dirty="0" err="1"/>
              <a:t>Rviz</a:t>
            </a:r>
            <a:r>
              <a:rPr lang="en-US" dirty="0"/>
              <a:t> is a powerful tool to visualize what is happening in the </a:t>
            </a:r>
            <a:r>
              <a:rPr lang="en-US" dirty="0" err="1"/>
              <a:t>ros</a:t>
            </a:r>
            <a:r>
              <a:rPr lang="en-US" dirty="0"/>
              <a:t> system – what each node publishes.</a:t>
            </a:r>
          </a:p>
          <a:p>
            <a:r>
              <a:rPr lang="en-US" dirty="0"/>
              <a:t>We created custom debug msg that contains:</a:t>
            </a:r>
          </a:p>
          <a:p>
            <a:pPr lvl="1"/>
            <a:r>
              <a:rPr lang="en-US" sz="3200" dirty="0"/>
              <a:t>Blue and Yellow points cluster</a:t>
            </a:r>
          </a:p>
          <a:p>
            <a:pPr lvl="1"/>
            <a:r>
              <a:rPr lang="en-US" sz="3200" dirty="0"/>
              <a:t>Blue and Yellow cones</a:t>
            </a:r>
          </a:p>
          <a:p>
            <a:pPr lvl="1"/>
            <a:r>
              <a:rPr lang="en-US" sz="3200" dirty="0"/>
              <a:t>Formula’s yaw and position</a:t>
            </a:r>
          </a:p>
          <a:p>
            <a:pPr marL="0" indent="0">
              <a:buNone/>
            </a:pPr>
            <a:endParaRPr lang="en-US" dirty="0"/>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F2432168-A1B2-4B95-88CE-643BE983A54B}"/>
              </a:ext>
            </a:extLst>
          </p:cNvPr>
          <p:cNvSpPr>
            <a:spLocks noGrp="1"/>
          </p:cNvSpPr>
          <p:nvPr>
            <p:ph type="sldNum" sz="quarter" idx="12"/>
          </p:nvPr>
        </p:nvSpPr>
        <p:spPr/>
        <p:txBody>
          <a:bodyPr/>
          <a:lstStyle/>
          <a:p>
            <a:fld id="{B01D9778-10B4-40FB-B4E4-44FA89A86639}" type="slidenum">
              <a:rPr lang="en-US" smtClean="0"/>
              <a:pPr/>
              <a:t>25</a:t>
            </a:fld>
            <a:endParaRPr lang="en-US"/>
          </a:p>
        </p:txBody>
      </p:sp>
    </p:spTree>
    <p:extLst>
      <p:ext uri="{BB962C8B-B14F-4D97-AF65-F5344CB8AC3E}">
        <p14:creationId xmlns:p14="http://schemas.microsoft.com/office/powerpoint/2010/main" val="8726817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7" name="Content Placeholder 7">
            <a:extLst>
              <a:ext uri="{FF2B5EF4-FFF2-40B4-BE49-F238E27FC236}">
                <a16:creationId xmlns:a16="http://schemas.microsoft.com/office/drawing/2014/main" id="{FCD880AD-3B29-461A-A384-979BDBC01FC9}"/>
              </a:ext>
            </a:extLst>
          </p:cNvPr>
          <p:cNvPicPr>
            <a:picLocks noGrp="1" noChangeAspect="1"/>
          </p:cNvPicPr>
          <p:nvPr>
            <p:ph idx="1"/>
          </p:nvPr>
        </p:nvPicPr>
        <p:blipFill rotWithShape="1">
          <a:blip r:embed="rId3"/>
          <a:srcRect/>
          <a:stretch/>
        </p:blipFill>
        <p:spPr>
          <a:xfrm>
            <a:off x="20" y="10"/>
            <a:ext cx="12191980" cy="6857990"/>
          </a:xfrm>
          <a:prstGeom prst="rect">
            <a:avLst/>
          </a:prstGeom>
        </p:spPr>
      </p:pic>
      <p:sp>
        <p:nvSpPr>
          <p:cNvPr id="20" name="Rectangle 1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3875" y="5317240"/>
            <a:ext cx="11210925" cy="744836"/>
          </a:xfrm>
        </p:spPr>
        <p:txBody>
          <a:bodyPr vert="horz" lIns="91440" tIns="45720" rIns="91440" bIns="45720" rtlCol="0" anchor="ctr">
            <a:normAutofit/>
          </a:bodyPr>
          <a:lstStyle/>
          <a:p>
            <a:pPr>
              <a:lnSpc>
                <a:spcPct val="90000"/>
              </a:lnSpc>
            </a:pPr>
            <a:r>
              <a:rPr lang="en-US" sz="3600">
                <a:solidFill>
                  <a:schemeClr val="tx1">
                    <a:lumMod val="85000"/>
                    <a:lumOff val="15000"/>
                  </a:schemeClr>
                </a:solidFill>
              </a:rPr>
              <a:t>Results</a:t>
            </a:r>
          </a:p>
        </p:txBody>
      </p:sp>
      <p:cxnSp>
        <p:nvCxnSpPr>
          <p:cNvPr id="22" name="Straight Connector 2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lgn="r" defTabSz="457200">
              <a:spcAft>
                <a:spcPts val="600"/>
              </a:spcAft>
            </a:pPr>
            <a:fld id="{B01D9778-10B4-40FB-B4E4-44FA89A86639}" type="slidenum">
              <a:rPr lang="en-US">
                <a:solidFill>
                  <a:srgbClr val="FFFFFF"/>
                </a:solidFill>
              </a:rPr>
              <a:pPr algn="r" defTabSz="457200">
                <a:spcAft>
                  <a:spcPts val="600"/>
                </a:spcAft>
              </a:pPr>
              <a:t>26</a:t>
            </a:fld>
            <a:endParaRPr lang="en-US">
              <a:solidFill>
                <a:srgbClr val="FFFFFF"/>
              </a:solidFill>
            </a:endParaRPr>
          </a:p>
        </p:txBody>
      </p:sp>
    </p:spTree>
    <p:extLst>
      <p:ext uri="{BB962C8B-B14F-4D97-AF65-F5344CB8AC3E}">
        <p14:creationId xmlns:p14="http://schemas.microsoft.com/office/powerpoint/2010/main" val="2145876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396747-EC28-4BBC-9BA5-2F952A90B2E3}"/>
                  </a:ext>
                </a:extLst>
              </p:cNvPr>
              <p:cNvSpPr>
                <a:spLocks noGrp="1"/>
              </p:cNvSpPr>
              <p:nvPr>
                <p:ph idx="1"/>
              </p:nvPr>
            </p:nvSpPr>
            <p:spPr/>
            <p:txBody>
              <a:bodyPr/>
              <a:lstStyle/>
              <a:p>
                <a:r>
                  <a:rPr lang="en-US" dirty="0"/>
                  <a:t>The system was up and ready for demo at EcoMotion.</a:t>
                </a:r>
              </a:p>
              <a:p>
                <a:r>
                  <a:rPr lang="en-US" dirty="0"/>
                  <a:t>A problem we encountered was with scaling- how can we decide </a:t>
                </a:r>
                <a14:m>
                  <m:oMath xmlns:m="http://schemas.openxmlformats.org/officeDocument/2006/math">
                    <m:r>
                      <a:rPr lang="en-US" i="1">
                        <a:latin typeface="Cambria Math" panose="02040503050406030204" pitchFamily="18" charset="0"/>
                      </a:rPr>
                      <m:t>𝜖</m:t>
                    </m:r>
                  </m:oMath>
                </a14:m>
                <a:r>
                  <a:rPr lang="en-US" dirty="0"/>
                  <a:t> for DBSCAN? The solution was to initial the system, get its current location in ORB-SLAM world, move it 1.6 meter in the real world (the car’s length) and record the new current location. Now we have the real scale so we can multiply the point cloud with the ratio.</a:t>
                </a:r>
              </a:p>
            </p:txBody>
          </p:sp>
        </mc:Choice>
        <mc:Fallback xmlns="">
          <p:sp>
            <p:nvSpPr>
              <p:cNvPr id="3" name="Content Placeholder 2">
                <a:extLst>
                  <a:ext uri="{FF2B5EF4-FFF2-40B4-BE49-F238E27FC236}">
                    <a16:creationId xmlns:a16="http://schemas.microsoft.com/office/drawing/2014/main" id="{1F396747-EC28-4BBC-9BA5-2F952A90B2E3}"/>
                  </a:ext>
                </a:extLst>
              </p:cNvPr>
              <p:cNvSpPr>
                <a:spLocks noGrp="1" noRot="1" noChangeAspect="1" noMove="1" noResize="1" noEditPoints="1" noAdjustHandles="1" noChangeArrowheads="1" noChangeShapeType="1" noTextEdit="1"/>
              </p:cNvSpPr>
              <p:nvPr>
                <p:ph idx="1"/>
              </p:nvPr>
            </p:nvSpPr>
            <p:spPr>
              <a:blipFill>
                <a:blip r:embed="rId2"/>
                <a:stretch>
                  <a:fillRect l="-1278" t="-1752" r="-111"/>
                </a:stretch>
              </a:blipFill>
            </p:spPr>
            <p:txBody>
              <a:bodyPr/>
              <a:lstStyle/>
              <a:p>
                <a:r>
                  <a:rPr lang="en-IL">
                    <a:noFill/>
                  </a:rPr>
                  <a:t> </a:t>
                </a:r>
              </a:p>
            </p:txBody>
          </p:sp>
        </mc:Fallback>
      </mc:AlternateContent>
      <p:sp>
        <p:nvSpPr>
          <p:cNvPr id="4" name="Slide Number Placeholder 3">
            <a:extLst>
              <a:ext uri="{FF2B5EF4-FFF2-40B4-BE49-F238E27FC236}">
                <a16:creationId xmlns:a16="http://schemas.microsoft.com/office/drawing/2014/main" id="{A2397922-82FE-498A-8741-6F8395E57DF4}"/>
              </a:ext>
            </a:extLst>
          </p:cNvPr>
          <p:cNvSpPr>
            <a:spLocks noGrp="1"/>
          </p:cNvSpPr>
          <p:nvPr>
            <p:ph type="sldNum" sz="quarter" idx="12"/>
          </p:nvPr>
        </p:nvSpPr>
        <p:spPr/>
        <p:txBody>
          <a:bodyPr/>
          <a:lstStyle/>
          <a:p>
            <a:fld id="{B01D9778-10B4-40FB-B4E4-44FA89A86639}" type="slidenum">
              <a:rPr lang="en-US" smtClean="0"/>
              <a:pPr/>
              <a:t>27</a:t>
            </a:fld>
            <a:endParaRPr lang="en-US" dirty="0"/>
          </a:p>
        </p:txBody>
      </p:sp>
    </p:spTree>
    <p:extLst>
      <p:ext uri="{BB962C8B-B14F-4D97-AF65-F5344CB8AC3E}">
        <p14:creationId xmlns:p14="http://schemas.microsoft.com/office/powerpoint/2010/main" val="4264815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1033F-8F53-403C-8CE3-B2919C47D3CB}"/>
              </a:ext>
            </a:extLst>
          </p:cNvPr>
          <p:cNvSpPr>
            <a:spLocks noGrp="1"/>
          </p:cNvSpPr>
          <p:nvPr>
            <p:ph type="title"/>
          </p:nvPr>
        </p:nvSpPr>
        <p:spPr/>
        <p:txBody>
          <a:bodyPr/>
          <a:lstStyle/>
          <a:p>
            <a:r>
              <a:rPr lang="en-US" dirty="0"/>
              <a:t>Problems</a:t>
            </a:r>
            <a:endParaRPr lang="en-IL" dirty="0"/>
          </a:p>
        </p:txBody>
      </p:sp>
      <p:sp>
        <p:nvSpPr>
          <p:cNvPr id="3" name="Content Placeholder 2">
            <a:extLst>
              <a:ext uri="{FF2B5EF4-FFF2-40B4-BE49-F238E27FC236}">
                <a16:creationId xmlns:a16="http://schemas.microsoft.com/office/drawing/2014/main" id="{D4E7BFB8-FD72-43BA-A7FF-E0281DBD353D}"/>
              </a:ext>
            </a:extLst>
          </p:cNvPr>
          <p:cNvSpPr>
            <a:spLocks noGrp="1"/>
          </p:cNvSpPr>
          <p:nvPr>
            <p:ph idx="1"/>
          </p:nvPr>
        </p:nvSpPr>
        <p:spPr/>
        <p:txBody>
          <a:bodyPr/>
          <a:lstStyle/>
          <a:p>
            <a:r>
              <a:rPr lang="en-US" dirty="0" err="1"/>
              <a:t>cone_slam</a:t>
            </a:r>
            <a:r>
              <a:rPr lang="en-US" dirty="0"/>
              <a:t> isn’t giving location fast enough, so top speed is 4 km/h. Probably because of the computer we used (Jetson TX2).</a:t>
            </a:r>
          </a:p>
          <a:p>
            <a:r>
              <a:rPr lang="en-US" dirty="0"/>
              <a:t>Initialization of ORB-SLAM takes a lot of time; stereo will fix it.</a:t>
            </a:r>
          </a:p>
          <a:p>
            <a:r>
              <a:rPr lang="en-US" dirty="0"/>
              <a:t>Possible problem: there isn’t a guarantee to get ORB features on cones. For now we haven’t had a problem with it, but it is a possibility.</a:t>
            </a:r>
            <a:endParaRPr lang="en-IL" dirty="0"/>
          </a:p>
        </p:txBody>
      </p:sp>
      <p:sp>
        <p:nvSpPr>
          <p:cNvPr id="4" name="Slide Number Placeholder 3">
            <a:extLst>
              <a:ext uri="{FF2B5EF4-FFF2-40B4-BE49-F238E27FC236}">
                <a16:creationId xmlns:a16="http://schemas.microsoft.com/office/drawing/2014/main" id="{32A6165F-F9D3-4B1D-87E6-D300E6200328}"/>
              </a:ext>
            </a:extLst>
          </p:cNvPr>
          <p:cNvSpPr>
            <a:spLocks noGrp="1"/>
          </p:cNvSpPr>
          <p:nvPr>
            <p:ph type="sldNum" sz="quarter" idx="12"/>
          </p:nvPr>
        </p:nvSpPr>
        <p:spPr/>
        <p:txBody>
          <a:bodyPr/>
          <a:lstStyle/>
          <a:p>
            <a:fld id="{B01D9778-10B4-40FB-B4E4-44FA89A86639}" type="slidenum">
              <a:rPr lang="en-US" smtClean="0"/>
              <a:pPr/>
              <a:t>28</a:t>
            </a:fld>
            <a:endParaRPr lang="en-US"/>
          </a:p>
        </p:txBody>
      </p:sp>
    </p:spTree>
    <p:extLst>
      <p:ext uri="{BB962C8B-B14F-4D97-AF65-F5344CB8AC3E}">
        <p14:creationId xmlns:p14="http://schemas.microsoft.com/office/powerpoint/2010/main" val="1989882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Future</a:t>
            </a:r>
            <a:endParaRPr lang="he-IL" dirty="0">
              <a:solidFill>
                <a:srgbClr val="002060"/>
              </a:solidFill>
            </a:endParaRPr>
          </a:p>
        </p:txBody>
      </p:sp>
      <p:sp>
        <p:nvSpPr>
          <p:cNvPr id="3" name="Content Placeholder 2"/>
          <p:cNvSpPr>
            <a:spLocks noGrp="1"/>
          </p:cNvSpPr>
          <p:nvPr>
            <p:ph idx="1"/>
          </p:nvPr>
        </p:nvSpPr>
        <p:spPr/>
        <p:txBody>
          <a:bodyPr/>
          <a:lstStyle/>
          <a:p>
            <a:r>
              <a:rPr lang="en-US" dirty="0">
                <a:solidFill>
                  <a:srgbClr val="002060"/>
                </a:solidFill>
              </a:rPr>
              <a:t>SERVO – ORB-SLAM + ROVIO</a:t>
            </a:r>
          </a:p>
          <a:p>
            <a:r>
              <a:rPr lang="en-US" dirty="0">
                <a:solidFill>
                  <a:srgbClr val="002060"/>
                </a:solidFill>
              </a:rPr>
              <a:t>Implemented but not tested, needs better computer than Jetson TX2.</a:t>
            </a:r>
            <a:endParaRPr lang="he-IL" dirty="0">
              <a:solidFill>
                <a:srgbClr val="002060"/>
              </a:solidFill>
            </a:endParaRPr>
          </a:p>
        </p:txBody>
      </p:sp>
      <p:sp>
        <p:nvSpPr>
          <p:cNvPr id="5" name="Slide Number Placeholder 4"/>
          <p:cNvSpPr>
            <a:spLocks noGrp="1"/>
          </p:cNvSpPr>
          <p:nvPr>
            <p:ph type="sldNum" sz="quarter" idx="12"/>
          </p:nvPr>
        </p:nvSpPr>
        <p:spPr/>
        <p:txBody>
          <a:bodyPr/>
          <a:lstStyle/>
          <a:p>
            <a:fld id="{B01D9778-10B4-40FB-B4E4-44FA89A86639}" type="slidenum">
              <a:rPr lang="en-US" smtClean="0"/>
              <a:pPr/>
              <a:t>29</a:t>
            </a:fld>
            <a:endParaRPr lang="en-US"/>
          </a:p>
        </p:txBody>
      </p:sp>
    </p:spTree>
    <p:extLst>
      <p:ext uri="{BB962C8B-B14F-4D97-AF65-F5344CB8AC3E}">
        <p14:creationId xmlns:p14="http://schemas.microsoft.com/office/powerpoint/2010/main" val="16693148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Conclusions</a:t>
            </a:r>
            <a:endParaRPr lang="he-IL" dirty="0">
              <a:solidFill>
                <a:srgbClr val="002060"/>
              </a:solidFill>
            </a:endParaRPr>
          </a:p>
        </p:txBody>
      </p:sp>
      <p:sp>
        <p:nvSpPr>
          <p:cNvPr id="3" name="Content Placeholder 2"/>
          <p:cNvSpPr>
            <a:spLocks noGrp="1"/>
          </p:cNvSpPr>
          <p:nvPr>
            <p:ph idx="1"/>
          </p:nvPr>
        </p:nvSpPr>
        <p:spPr/>
        <p:txBody>
          <a:bodyPr/>
          <a:lstStyle/>
          <a:p>
            <a:r>
              <a:rPr lang="en-US" dirty="0">
                <a:solidFill>
                  <a:srgbClr val="002060"/>
                </a:solidFill>
              </a:rPr>
              <a:t>The only way to understand someone else’s code is to dive in. Start from the input and hopefully you will get to the output.</a:t>
            </a:r>
          </a:p>
          <a:p>
            <a:r>
              <a:rPr lang="en-US" dirty="0">
                <a:solidFill>
                  <a:srgbClr val="002060"/>
                </a:solidFill>
              </a:rPr>
              <a:t>Documentation is important.</a:t>
            </a:r>
          </a:p>
          <a:p>
            <a:r>
              <a:rPr lang="en-US" dirty="0">
                <a:solidFill>
                  <a:srgbClr val="002060"/>
                </a:solidFill>
              </a:rPr>
              <a:t>Open-source is amazing.</a:t>
            </a:r>
          </a:p>
        </p:txBody>
      </p:sp>
      <p:sp>
        <p:nvSpPr>
          <p:cNvPr id="5" name="Slide Number Placeholder 4"/>
          <p:cNvSpPr>
            <a:spLocks noGrp="1"/>
          </p:cNvSpPr>
          <p:nvPr>
            <p:ph type="sldNum" sz="quarter" idx="12"/>
          </p:nvPr>
        </p:nvSpPr>
        <p:spPr/>
        <p:txBody>
          <a:bodyPr/>
          <a:lstStyle/>
          <a:p>
            <a:fld id="{B01D9778-10B4-40FB-B4E4-44FA89A86639}" type="slidenum">
              <a:rPr lang="en-US" smtClean="0"/>
              <a:pPr/>
              <a:t>30</a:t>
            </a:fld>
            <a:endParaRPr lang="en-US"/>
          </a:p>
        </p:txBody>
      </p:sp>
    </p:spTree>
    <p:extLst>
      <p:ext uri="{BB962C8B-B14F-4D97-AF65-F5344CB8AC3E}">
        <p14:creationId xmlns:p14="http://schemas.microsoft.com/office/powerpoint/2010/main" val="42589492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23020-4D5C-49A9-A4D8-B11DC394E031}"/>
              </a:ext>
            </a:extLst>
          </p:cNvPr>
          <p:cNvSpPr>
            <a:spLocks noGrp="1"/>
          </p:cNvSpPr>
          <p:nvPr>
            <p:ph type="title"/>
          </p:nvPr>
        </p:nvSpPr>
        <p:spPr/>
        <p:txBody>
          <a:bodyPr/>
          <a:lstStyle/>
          <a:p>
            <a:r>
              <a:rPr lang="en-US" dirty="0">
                <a:solidFill>
                  <a:srgbClr val="002060"/>
                </a:solidFill>
              </a:rPr>
              <a:t>References</a:t>
            </a:r>
            <a:endParaRPr lang="en-IL" dirty="0"/>
          </a:p>
        </p:txBody>
      </p:sp>
      <p:sp>
        <p:nvSpPr>
          <p:cNvPr id="3" name="Content Placeholder 2">
            <a:extLst>
              <a:ext uri="{FF2B5EF4-FFF2-40B4-BE49-F238E27FC236}">
                <a16:creationId xmlns:a16="http://schemas.microsoft.com/office/drawing/2014/main" id="{B4226C52-2EC4-4F74-8391-6E0BDE4CDF3B}"/>
              </a:ext>
            </a:extLst>
          </p:cNvPr>
          <p:cNvSpPr>
            <a:spLocks noGrp="1"/>
          </p:cNvSpPr>
          <p:nvPr>
            <p:ph idx="1"/>
          </p:nvPr>
        </p:nvSpPr>
        <p:spPr/>
        <p:txBody>
          <a:bodyPr/>
          <a:lstStyle/>
          <a:p>
            <a:r>
              <a:rPr lang="en-US" dirty="0"/>
              <a:t>https://github.com/raulmur/ORB_SLAM2</a:t>
            </a:r>
          </a:p>
          <a:p>
            <a:r>
              <a:rPr lang="en-US" dirty="0"/>
              <a:t>https://github.com/aslyansky-m/FSTD_SLAM</a:t>
            </a:r>
          </a:p>
          <a:p>
            <a:r>
              <a:rPr lang="en-US" dirty="0"/>
              <a:t>https://github.com/tomnorman/cone_slam</a:t>
            </a:r>
            <a:endParaRPr lang="en-IL" dirty="0"/>
          </a:p>
        </p:txBody>
      </p:sp>
      <p:sp>
        <p:nvSpPr>
          <p:cNvPr id="4" name="Slide Number Placeholder 3">
            <a:extLst>
              <a:ext uri="{FF2B5EF4-FFF2-40B4-BE49-F238E27FC236}">
                <a16:creationId xmlns:a16="http://schemas.microsoft.com/office/drawing/2014/main" id="{FB3E1B9E-5112-4501-AEE6-E9F5AA76A805}"/>
              </a:ext>
            </a:extLst>
          </p:cNvPr>
          <p:cNvSpPr>
            <a:spLocks noGrp="1"/>
          </p:cNvSpPr>
          <p:nvPr>
            <p:ph type="sldNum" sz="quarter" idx="12"/>
          </p:nvPr>
        </p:nvSpPr>
        <p:spPr/>
        <p:txBody>
          <a:bodyPr/>
          <a:lstStyle/>
          <a:p>
            <a:fld id="{B01D9778-10B4-40FB-B4E4-44FA89A86639}" type="slidenum">
              <a:rPr lang="en-US" smtClean="0"/>
              <a:pPr/>
              <a:t>31</a:t>
            </a:fld>
            <a:endParaRPr lang="en-US"/>
          </a:p>
        </p:txBody>
      </p:sp>
    </p:spTree>
    <p:extLst>
      <p:ext uri="{BB962C8B-B14F-4D97-AF65-F5344CB8AC3E}">
        <p14:creationId xmlns:p14="http://schemas.microsoft.com/office/powerpoint/2010/main" val="9426866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4BEE7-89D2-4C92-9F4A-C6BD0EFE2B96}"/>
              </a:ext>
            </a:extLst>
          </p:cNvPr>
          <p:cNvSpPr>
            <a:spLocks noGrp="1"/>
          </p:cNvSpPr>
          <p:nvPr>
            <p:ph type="title"/>
          </p:nvPr>
        </p:nvSpPr>
        <p:spPr>
          <a:xfrm>
            <a:off x="609600" y="274637"/>
            <a:ext cx="10972800" cy="6081713"/>
          </a:xfrm>
        </p:spPr>
        <p:txBody>
          <a:bodyPr>
            <a:normAutofit/>
          </a:bodyPr>
          <a:lstStyle/>
          <a:p>
            <a:r>
              <a:rPr lang="en-US" dirty="0"/>
              <a:t>I would like to thank to </a:t>
            </a:r>
            <a:r>
              <a:rPr lang="en-US" dirty="0">
                <a:solidFill>
                  <a:srgbClr val="FF0000"/>
                </a:solidFill>
              </a:rPr>
              <a:t>GIP</a:t>
            </a:r>
            <a:r>
              <a:rPr lang="en-US" dirty="0"/>
              <a:t> for the RealSense camera and </a:t>
            </a:r>
            <a:r>
              <a:rPr lang="en-US" dirty="0">
                <a:solidFill>
                  <a:srgbClr val="FF0000"/>
                </a:solidFill>
              </a:rPr>
              <a:t>VISL</a:t>
            </a:r>
            <a:r>
              <a:rPr lang="en-US" dirty="0"/>
              <a:t> for the Jetson and ZED camera</a:t>
            </a:r>
            <a:endParaRPr lang="en-IL" dirty="0"/>
          </a:p>
        </p:txBody>
      </p:sp>
      <p:sp>
        <p:nvSpPr>
          <p:cNvPr id="4" name="Slide Number Placeholder 3">
            <a:extLst>
              <a:ext uri="{FF2B5EF4-FFF2-40B4-BE49-F238E27FC236}">
                <a16:creationId xmlns:a16="http://schemas.microsoft.com/office/drawing/2014/main" id="{3EF87C76-AB2A-42DA-8935-E2DBFB611FB6}"/>
              </a:ext>
            </a:extLst>
          </p:cNvPr>
          <p:cNvSpPr>
            <a:spLocks noGrp="1"/>
          </p:cNvSpPr>
          <p:nvPr>
            <p:ph type="sldNum" sz="quarter" idx="12"/>
          </p:nvPr>
        </p:nvSpPr>
        <p:spPr/>
        <p:txBody>
          <a:bodyPr/>
          <a:lstStyle/>
          <a:p>
            <a:fld id="{B01D9778-10B4-40FB-B4E4-44FA89A86639}" type="slidenum">
              <a:rPr lang="en-US" smtClean="0"/>
              <a:pPr/>
              <a:t>32</a:t>
            </a:fld>
            <a:endParaRPr lang="en-US"/>
          </a:p>
        </p:txBody>
      </p:sp>
    </p:spTree>
    <p:extLst>
      <p:ext uri="{BB962C8B-B14F-4D97-AF65-F5344CB8AC3E}">
        <p14:creationId xmlns:p14="http://schemas.microsoft.com/office/powerpoint/2010/main" val="273540480"/>
      </p:ext>
    </p:extLst>
  </p:cSld>
  <p:clrMapOvr>
    <a:masterClrMapping/>
  </p:clrMapOvr>
</p:sld>
</file>

<file path=ppt/theme/theme1.xml><?xml version="1.0" encoding="utf-8"?>
<a:theme xmlns:a="http://schemas.openxmlformats.org/drawingml/2006/main" name="Office Theme">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1427</Words>
  <Application>Microsoft Office PowerPoint</Application>
  <PresentationFormat>Widescreen</PresentationFormat>
  <Paragraphs>166</Paragraphs>
  <Slides>32</Slides>
  <Notes>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32</vt:i4>
      </vt:variant>
    </vt:vector>
  </HeadingPairs>
  <TitlesOfParts>
    <vt:vector size="38" baseType="lpstr">
      <vt:lpstr>Arial</vt:lpstr>
      <vt:lpstr>Calibri</vt:lpstr>
      <vt:lpstr>Cambria Math</vt:lpstr>
      <vt:lpstr>Times New Roman</vt:lpstr>
      <vt:lpstr>Office Theme</vt:lpstr>
      <vt:lpstr>Custom Design</vt:lpstr>
      <vt:lpstr>PowerPoint Presentation</vt:lpstr>
      <vt:lpstr>Project Goal</vt:lpstr>
      <vt:lpstr>Background</vt:lpstr>
      <vt:lpstr>Chosen Solution</vt:lpstr>
      <vt:lpstr>cone_slam</vt:lpstr>
      <vt:lpstr>The pipeline</vt:lpstr>
      <vt:lpstr>Step 1: Acquire image</vt:lpstr>
      <vt:lpstr>Step 2: SLAM + Classification</vt:lpstr>
      <vt:lpstr>SLAM- Simultaneous Localization And Mapping</vt:lpstr>
      <vt:lpstr>ORB-SLAM</vt:lpstr>
      <vt:lpstr>Tracking</vt:lpstr>
      <vt:lpstr>Local Mapping</vt:lpstr>
      <vt:lpstr>Loop Closing</vt:lpstr>
      <vt:lpstr>Classification</vt:lpstr>
      <vt:lpstr>CNN</vt:lpstr>
      <vt:lpstr>YOLO</vt:lpstr>
      <vt:lpstr>The Combination</vt:lpstr>
      <vt:lpstr>Step 3: Clustering</vt:lpstr>
      <vt:lpstr>Clustering</vt:lpstr>
      <vt:lpstr>DBSCAN</vt:lpstr>
      <vt:lpstr>Communication</vt:lpstr>
      <vt:lpstr>Communication</vt:lpstr>
      <vt:lpstr>ROS</vt:lpstr>
      <vt:lpstr>Debug unit</vt:lpstr>
      <vt:lpstr>Debug unit</vt:lpstr>
      <vt:lpstr>Results</vt:lpstr>
      <vt:lpstr>PowerPoint Presentation</vt:lpstr>
      <vt:lpstr>Problems</vt:lpstr>
      <vt:lpstr>Future</vt:lpstr>
      <vt:lpstr>Conclusions</vt:lpstr>
      <vt:lpstr>References</vt:lpstr>
      <vt:lpstr>I would like to thank to GIP for the RealSense camera and VISL for the Jetson and ZED camera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Tom Norman</dc:creator>
  <cp:lastModifiedBy>Tom Norman</cp:lastModifiedBy>
  <cp:revision>25</cp:revision>
  <dcterms:created xsi:type="dcterms:W3CDTF">2019-08-12T12:05:35Z</dcterms:created>
  <dcterms:modified xsi:type="dcterms:W3CDTF">2019-08-12T12:36:39Z</dcterms:modified>
</cp:coreProperties>
</file>